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80618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5881750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15480610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7186037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2871523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541881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0368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35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7875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001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80763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5790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0065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3573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9736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6D777C-787E-837E-50C8-6F91F0AE33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43BD49-1EE1-A627-8DEE-2302AF2D23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4682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977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55554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5906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41045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4598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694B93-F01F-8BF1-70EC-658DC190FC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42490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97018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5815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56945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1424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570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21295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416373" name="Shape 0"/>
          <p:cNvSpPr/>
          <p:nvPr/>
        </p:nvSpPr>
        <p:spPr bwMode="auto">
          <a:xfrm>
            <a:off x="8778240" y="-182880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842718750" name="Shape 1"/>
          <p:cNvSpPr/>
          <p:nvPr/>
        </p:nvSpPr>
        <p:spPr bwMode="auto">
          <a:xfrm>
            <a:off x="10241280" y="4206240"/>
            <a:ext cx="3840480" cy="3840480"/>
          </a:xfrm>
          <a:prstGeom prst="ellipse">
            <a:avLst/>
          </a:prstGeom>
          <a:solidFill>
            <a:srgbClr val="FF6B4A">
              <a:alpha val="25000"/>
            </a:srgbClr>
          </a:solidFill>
          <a:ln/>
        </p:spPr>
      </p:sp>
      <p:sp>
        <p:nvSpPr>
          <p:cNvPr id="561194926" name="Shape 2"/>
          <p:cNvSpPr/>
          <p:nvPr/>
        </p:nvSpPr>
        <p:spPr bwMode="auto">
          <a:xfrm>
            <a:off x="-1280160" y="475488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419313547" name="Shape 3"/>
          <p:cNvSpPr/>
          <p:nvPr/>
        </p:nvSpPr>
        <p:spPr bwMode="auto">
          <a:xfrm>
            <a:off x="640080" y="5943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34165029" name="Image 0" descr="/home/claude/traventure_ppt/icon_plane_FFFFFF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23290" y="677570"/>
            <a:ext cx="473659" cy="473659"/>
          </a:xfrm>
          <a:prstGeom prst="rect">
            <a:avLst/>
          </a:prstGeom>
        </p:spPr>
      </p:pic>
      <p:sp>
        <p:nvSpPr>
          <p:cNvPr id="499202027" name="Text 4"/>
          <p:cNvSpPr/>
          <p:nvPr/>
        </p:nvSpPr>
        <p:spPr bwMode="auto">
          <a:xfrm flipH="0" flipV="0">
            <a:off x="1325880" y="622249"/>
            <a:ext cx="5486400" cy="58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 spc="200">
                <a:solidFill>
                  <a:srgbClr val="FF6B4A"/>
                </a:solidFill>
                <a:latin typeface="Calibri"/>
                <a:ea typeface="Calibri"/>
                <a:cs typeface="Calibri"/>
              </a:rPr>
              <a:t>BUILD FOR THE MODERN TRAVELER</a:t>
            </a:r>
            <a:endParaRPr sz="1500"/>
          </a:p>
        </p:txBody>
      </p:sp>
      <p:sp>
        <p:nvSpPr>
          <p:cNvPr id="1770511285" name="Text 5"/>
          <p:cNvSpPr/>
          <p:nvPr/>
        </p:nvSpPr>
        <p:spPr bwMode="auto">
          <a:xfrm>
            <a:off x="640080" y="214884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6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Traventure</a:t>
            </a:r>
            <a:endParaRPr lang="en-US" sz="6600"/>
          </a:p>
        </p:txBody>
      </p:sp>
      <p:sp>
        <p:nvSpPr>
          <p:cNvPr id="577852648" name="Text 6"/>
          <p:cNvSpPr/>
          <p:nvPr/>
        </p:nvSpPr>
        <p:spPr bwMode="auto">
          <a:xfrm>
            <a:off x="658368" y="32461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 AI-Powered Smart Travel Planning Platform</a:t>
            </a:r>
            <a:endParaRPr lang="en-US" sz="2000"/>
          </a:p>
        </p:txBody>
      </p:sp>
      <p:sp>
        <p:nvSpPr>
          <p:cNvPr id="1106377750" name="Text 7"/>
          <p:cNvSpPr/>
          <p:nvPr/>
        </p:nvSpPr>
        <p:spPr bwMode="auto">
          <a:xfrm>
            <a:off x="658368" y="397764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350">
                <a:solidFill>
                  <a:srgbClr val="B9C7E0"/>
                </a:solidFill>
                <a:latin typeface="Calibri"/>
                <a:ea typeface="Calibri"/>
                <a:cs typeface="Calibri"/>
              </a:rPr>
              <a:t>One conversation. Every travel decision — destinations, weather, food, and routes — brought together in a single AI-first assistant.</a:t>
            </a:r>
            <a:endParaRPr lang="en-US" sz="1350"/>
          </a:p>
        </p:txBody>
      </p:sp>
      <p:sp>
        <p:nvSpPr>
          <p:cNvPr id="1365991394" name="Shape 8"/>
          <p:cNvSpPr/>
          <p:nvPr/>
        </p:nvSpPr>
        <p:spPr bwMode="auto">
          <a:xfrm>
            <a:off x="640080" y="5559552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7999"/>
            </a:srgbClr>
          </a:solidFill>
          <a:ln w="12700">
            <a:solidFill>
              <a:srgbClr val="3E4A7A"/>
            </a:solidFill>
            <a:prstDash val="solid"/>
          </a:ln>
        </p:spPr>
      </p:sp>
      <p:pic>
        <p:nvPicPr>
          <p:cNvPr id="1717153534" name="Image 1" descr="/home/claude/traventure_ppt/icon_globe_FFFFFF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4672" y="5687568"/>
            <a:ext cx="310896" cy="310896"/>
          </a:xfrm>
          <a:prstGeom prst="rect">
            <a:avLst/>
          </a:prstGeom>
        </p:spPr>
      </p:pic>
      <p:sp>
        <p:nvSpPr>
          <p:cNvPr id="207974737" name="Text 9"/>
          <p:cNvSpPr/>
          <p:nvPr/>
        </p:nvSpPr>
        <p:spPr bwMode="auto">
          <a:xfrm>
            <a:off x="1280160" y="555955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traventure-4m5a.onrender.com</a:t>
            </a:r>
            <a:endParaRPr lang="en-US" sz="1250"/>
          </a:p>
        </p:txBody>
      </p:sp>
      <p:sp>
        <p:nvSpPr>
          <p:cNvPr id="1256083461" name="Shape 10"/>
          <p:cNvSpPr/>
          <p:nvPr/>
        </p:nvSpPr>
        <p:spPr bwMode="auto">
          <a:xfrm>
            <a:off x="4919470" y="5559552"/>
            <a:ext cx="338328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7999"/>
            </a:srgbClr>
          </a:solidFill>
          <a:ln w="12700">
            <a:solidFill>
              <a:srgbClr val="3E4A7A"/>
            </a:solidFill>
            <a:prstDash val="solid"/>
          </a:ln>
        </p:spPr>
      </p:sp>
      <p:pic>
        <p:nvPicPr>
          <p:cNvPr id="955391063" name="Image 2" descr="/home/claude/traventure_ppt/icon_github_FFFFFF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074918" y="5687568"/>
            <a:ext cx="310896" cy="310896"/>
          </a:xfrm>
          <a:prstGeom prst="rect">
            <a:avLst/>
          </a:prstGeom>
        </p:spPr>
      </p:pic>
      <p:sp>
        <p:nvSpPr>
          <p:cNvPr id="1019434213" name="Text 11"/>
          <p:cNvSpPr/>
          <p:nvPr/>
        </p:nvSpPr>
        <p:spPr bwMode="auto">
          <a:xfrm>
            <a:off x="5440680" y="555955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github.com/Rosalia-06/Traventure</a:t>
            </a:r>
            <a:endParaRPr lang="en-US" sz="1100"/>
          </a:p>
        </p:txBody>
      </p:sp>
      <p:sp>
        <p:nvSpPr>
          <p:cNvPr id="282046832" name="Text 12"/>
          <p:cNvSpPr/>
          <p:nvPr/>
        </p:nvSpPr>
        <p:spPr bwMode="auto">
          <a:xfrm>
            <a:off x="457200" y="6338315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 spc="200">
                <a:solidFill>
                  <a:srgbClr val="8FA3C9"/>
                </a:solidFill>
                <a:latin typeface="Calibri"/>
                <a:ea typeface="Calibri"/>
                <a:cs typeface="Calibri"/>
              </a:rPr>
              <a:t>TRAVENTURE</a:t>
            </a:r>
            <a:endParaRPr lang="en-US" sz="900"/>
          </a:p>
        </p:txBody>
      </p:sp>
      <p:sp>
        <p:nvSpPr>
          <p:cNvPr id="2096278684" name="Text 13"/>
          <p:cNvSpPr/>
          <p:nvPr/>
        </p:nvSpPr>
        <p:spPr bwMode="auto"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8FA3C9"/>
                </a:solidFill>
                <a:latin typeface="Calibri"/>
                <a:ea typeface="Calibri"/>
                <a:cs typeface="Calibri"/>
              </a:rPr>
              <a:t>1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692754" name="Text 0"/>
          <p:cNvSpPr/>
          <p:nvPr/>
        </p:nvSpPr>
        <p:spPr bwMode="auto"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FF6B4A"/>
                </a:solidFill>
                <a:latin typeface="Calibri"/>
                <a:ea typeface="Calibri"/>
                <a:cs typeface="Calibri"/>
              </a:rPr>
              <a:t>THE PROBLEM</a:t>
            </a:r>
            <a:endParaRPr lang="en-US" sz="1300"/>
          </a:p>
        </p:txBody>
      </p:sp>
      <p:sp>
        <p:nvSpPr>
          <p:cNvPr id="1403054432" name="Text 1"/>
          <p:cNvSpPr/>
          <p:nvPr/>
        </p:nvSpPr>
        <p:spPr bwMode="auto">
          <a:xfrm>
            <a:off x="640080" y="8229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Trip planning is scattered across too many tabs</a:t>
            </a:r>
            <a:endParaRPr lang="en-US" sz="3000"/>
          </a:p>
        </p:txBody>
      </p:sp>
      <p:sp>
        <p:nvSpPr>
          <p:cNvPr id="1283893646" name="Text 2"/>
          <p:cNvSpPr/>
          <p:nvPr/>
        </p:nvSpPr>
        <p:spPr bwMode="auto">
          <a:xfrm>
            <a:off x="640080" y="16002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40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Planning a trip today means bouncing between five or six different platforms — and every extra tab adds friction, inconsistency, and wasted time.</a:t>
            </a:r>
            <a:endParaRPr lang="en-US" sz="1400"/>
          </a:p>
        </p:txBody>
      </p:sp>
      <p:sp>
        <p:nvSpPr>
          <p:cNvPr id="346438751" name="Text 3"/>
          <p:cNvSpPr/>
          <p:nvPr/>
        </p:nvSpPr>
        <p:spPr bwMode="auto">
          <a:xfrm>
            <a:off x="640080" y="26746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A traveler typically has to:</a:t>
            </a:r>
            <a:endParaRPr lang="en-US" sz="1250"/>
          </a:p>
        </p:txBody>
      </p:sp>
      <p:sp>
        <p:nvSpPr>
          <p:cNvPr id="363866923" name="Shape 4"/>
          <p:cNvSpPr/>
          <p:nvPr/>
        </p:nvSpPr>
        <p:spPr bwMode="auto">
          <a:xfrm>
            <a:off x="640080" y="307238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52516520" name="Text 5"/>
          <p:cNvSpPr/>
          <p:nvPr/>
        </p:nvSpPr>
        <p:spPr bwMode="auto">
          <a:xfrm>
            <a:off x="841248" y="291693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Search destinations</a:t>
            </a:r>
            <a:endParaRPr lang="en-US" sz="1250"/>
          </a:p>
        </p:txBody>
      </p:sp>
      <p:sp>
        <p:nvSpPr>
          <p:cNvPr id="2108673438" name="Shape 6"/>
          <p:cNvSpPr/>
          <p:nvPr/>
        </p:nvSpPr>
        <p:spPr bwMode="auto">
          <a:xfrm>
            <a:off x="640080" y="345643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03220089" name="Text 7"/>
          <p:cNvSpPr/>
          <p:nvPr/>
        </p:nvSpPr>
        <p:spPr bwMode="auto">
          <a:xfrm>
            <a:off x="841248" y="330098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Check weather forecasts</a:t>
            </a:r>
            <a:endParaRPr lang="en-US" sz="1250"/>
          </a:p>
        </p:txBody>
      </p:sp>
      <p:sp>
        <p:nvSpPr>
          <p:cNvPr id="524419342" name="Shape 8"/>
          <p:cNvSpPr/>
          <p:nvPr/>
        </p:nvSpPr>
        <p:spPr bwMode="auto">
          <a:xfrm>
            <a:off x="640080" y="384048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60368876" name="Text 9"/>
          <p:cNvSpPr/>
          <p:nvPr/>
        </p:nvSpPr>
        <p:spPr bwMode="auto">
          <a:xfrm>
            <a:off x="841248" y="368503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Find tourist attractions</a:t>
            </a:r>
            <a:endParaRPr lang="en-US" sz="1250"/>
          </a:p>
        </p:txBody>
      </p:sp>
      <p:sp>
        <p:nvSpPr>
          <p:cNvPr id="1448464287" name="Shape 10"/>
          <p:cNvSpPr/>
          <p:nvPr/>
        </p:nvSpPr>
        <p:spPr bwMode="auto">
          <a:xfrm>
            <a:off x="640080" y="422452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1625881" name="Text 11"/>
          <p:cNvSpPr/>
          <p:nvPr/>
        </p:nvSpPr>
        <p:spPr bwMode="auto">
          <a:xfrm>
            <a:off x="841248" y="406908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Discover nearby restaurants</a:t>
            </a:r>
            <a:endParaRPr lang="en-US" sz="1250"/>
          </a:p>
        </p:txBody>
      </p:sp>
      <p:sp>
        <p:nvSpPr>
          <p:cNvPr id="1239110628" name="Shape 12"/>
          <p:cNvSpPr/>
          <p:nvPr/>
        </p:nvSpPr>
        <p:spPr bwMode="auto">
          <a:xfrm>
            <a:off x="640080" y="460857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53313659" name="Text 13"/>
          <p:cNvSpPr/>
          <p:nvPr/>
        </p:nvSpPr>
        <p:spPr bwMode="auto">
          <a:xfrm>
            <a:off x="841248" y="445312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Plan travel routes</a:t>
            </a:r>
            <a:endParaRPr lang="en-US" sz="1250"/>
          </a:p>
        </p:txBody>
      </p:sp>
      <p:sp>
        <p:nvSpPr>
          <p:cNvPr id="1527451319" name="Shape 14"/>
          <p:cNvSpPr/>
          <p:nvPr/>
        </p:nvSpPr>
        <p:spPr bwMode="auto">
          <a:xfrm>
            <a:off x="640080" y="499262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79561888" name="Text 15"/>
          <p:cNvSpPr/>
          <p:nvPr/>
        </p:nvSpPr>
        <p:spPr bwMode="auto">
          <a:xfrm>
            <a:off x="841248" y="483717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Ask travel questions, one site at a time</a:t>
            </a:r>
            <a:endParaRPr lang="en-US" sz="1250"/>
          </a:p>
        </p:txBody>
      </p:sp>
      <p:sp>
        <p:nvSpPr>
          <p:cNvPr id="76608525" name="Shape 16"/>
          <p:cNvSpPr/>
          <p:nvPr/>
        </p:nvSpPr>
        <p:spPr bwMode="auto">
          <a:xfrm>
            <a:off x="5897880" y="160020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F4F8FB"/>
          </a:solidFill>
          <a:ln/>
          <a:effectLst>
            <a:outerShdw blurRad="76200" dist="25400" dir="5400000" sx="100000" sy="100000" kx="0" ky="0" algn="bl" rotWithShape="0">
              <a:srgbClr val="9AAED0">
                <a:alpha val="30000"/>
              </a:srgbClr>
            </a:outerShdw>
          </a:effectLst>
        </p:spPr>
      </p:sp>
      <p:sp>
        <p:nvSpPr>
          <p:cNvPr id="539002195" name="Shape 17"/>
          <p:cNvSpPr/>
          <p:nvPr/>
        </p:nvSpPr>
        <p:spPr bwMode="auto">
          <a:xfrm>
            <a:off x="6099048" y="1783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21808394" name="Image 0" descr="/home/claude/traventure_ppt/icon_warn_FFFFFF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58484" y="1842516"/>
            <a:ext cx="338328" cy="338328"/>
          </a:xfrm>
          <a:prstGeom prst="rect">
            <a:avLst/>
          </a:prstGeom>
        </p:spPr>
      </p:pic>
      <p:sp>
        <p:nvSpPr>
          <p:cNvPr id="528261231" name="Text 18"/>
          <p:cNvSpPr/>
          <p:nvPr/>
        </p:nvSpPr>
        <p:spPr bwMode="auto">
          <a:xfrm>
            <a:off x="6099048" y="2313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Information Overload</a:t>
            </a:r>
            <a:endParaRPr lang="en-US" sz="1250"/>
          </a:p>
        </p:txBody>
      </p:sp>
      <p:sp>
        <p:nvSpPr>
          <p:cNvPr id="1990305497" name="Text 19"/>
          <p:cNvSpPr/>
          <p:nvPr/>
        </p:nvSpPr>
        <p:spPr bwMode="auto">
          <a:xfrm>
            <a:off x="6099048" y="256946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Too many sources, too little clarity.</a:t>
            </a:r>
            <a:endParaRPr lang="en-US" sz="1000"/>
          </a:p>
        </p:txBody>
      </p:sp>
      <p:sp>
        <p:nvSpPr>
          <p:cNvPr id="1499241891" name="Shape 20"/>
          <p:cNvSpPr/>
          <p:nvPr/>
        </p:nvSpPr>
        <p:spPr bwMode="auto">
          <a:xfrm>
            <a:off x="8942832" y="160020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F4F8FB"/>
          </a:solidFill>
          <a:ln/>
          <a:effectLst>
            <a:outerShdw blurRad="76200" dist="25400" dir="5400000" sx="100000" sy="100000" kx="0" ky="0" algn="bl" rotWithShape="0">
              <a:srgbClr val="9AAED0">
                <a:alpha val="30000"/>
              </a:srgbClr>
            </a:outerShdw>
          </a:effectLst>
        </p:spPr>
      </p:sp>
      <p:sp>
        <p:nvSpPr>
          <p:cNvPr id="1336617885" name="Shape 21"/>
          <p:cNvSpPr/>
          <p:nvPr/>
        </p:nvSpPr>
        <p:spPr bwMode="auto">
          <a:xfrm>
            <a:off x="9144000" y="1783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44333581" name="Image 1" descr="/home/claude/traventure_ppt/icon_clock_FFFFFF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203436" y="1842516"/>
            <a:ext cx="338328" cy="338328"/>
          </a:xfrm>
          <a:prstGeom prst="rect">
            <a:avLst/>
          </a:prstGeom>
        </p:spPr>
      </p:pic>
      <p:sp>
        <p:nvSpPr>
          <p:cNvPr id="1320342754" name="Text 22"/>
          <p:cNvSpPr/>
          <p:nvPr/>
        </p:nvSpPr>
        <p:spPr bwMode="auto">
          <a:xfrm>
            <a:off x="9144000" y="2313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Wasted Time</a:t>
            </a:r>
            <a:endParaRPr lang="en-US" sz="1250"/>
          </a:p>
        </p:txBody>
      </p:sp>
      <p:sp>
        <p:nvSpPr>
          <p:cNvPr id="179098489" name="Text 23"/>
          <p:cNvSpPr/>
          <p:nvPr/>
        </p:nvSpPr>
        <p:spPr bwMode="auto">
          <a:xfrm>
            <a:off x="9144000" y="256946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Hours lost cross-checking platforms.</a:t>
            </a:r>
            <a:endParaRPr lang="en-US" sz="1000"/>
          </a:p>
        </p:txBody>
      </p:sp>
      <p:sp>
        <p:nvSpPr>
          <p:cNvPr id="1831759278" name="Shape 24"/>
          <p:cNvSpPr/>
          <p:nvPr/>
        </p:nvSpPr>
        <p:spPr bwMode="auto">
          <a:xfrm>
            <a:off x="5897880" y="3090672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F4F8FB"/>
          </a:solidFill>
          <a:ln/>
          <a:effectLst>
            <a:outerShdw blurRad="76200" dist="25400" dir="5400000" sx="100000" sy="100000" kx="0" ky="0" algn="bl" rotWithShape="0">
              <a:srgbClr val="9AAED0">
                <a:alpha val="30000"/>
              </a:srgbClr>
            </a:outerShdw>
          </a:effectLst>
        </p:spPr>
      </p:sp>
      <p:sp>
        <p:nvSpPr>
          <p:cNvPr id="1681489085" name="Shape 25"/>
          <p:cNvSpPr/>
          <p:nvPr/>
        </p:nvSpPr>
        <p:spPr bwMode="auto">
          <a:xfrm>
            <a:off x="6099048" y="32735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40174004" name="Image 2" descr="/home/claude/traventure_ppt/icon_sitemap_FFFFFF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158484" y="3332988"/>
            <a:ext cx="338328" cy="338328"/>
          </a:xfrm>
          <a:prstGeom prst="rect">
            <a:avLst/>
          </a:prstGeom>
        </p:spPr>
      </p:pic>
      <p:sp>
        <p:nvSpPr>
          <p:cNvPr id="40686086" name="Text 26"/>
          <p:cNvSpPr/>
          <p:nvPr/>
        </p:nvSpPr>
        <p:spPr bwMode="auto">
          <a:xfrm>
            <a:off x="6099048" y="38039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Inconsistent Advice</a:t>
            </a:r>
            <a:endParaRPr lang="en-US" sz="1250"/>
          </a:p>
        </p:txBody>
      </p:sp>
      <p:sp>
        <p:nvSpPr>
          <p:cNvPr id="1724208126" name="Text 27"/>
          <p:cNvSpPr/>
          <p:nvPr/>
        </p:nvSpPr>
        <p:spPr bwMode="auto">
          <a:xfrm>
            <a:off x="6099048" y="405993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Recommendations that don't line up.</a:t>
            </a:r>
            <a:endParaRPr lang="en-US" sz="1000"/>
          </a:p>
        </p:txBody>
      </p:sp>
      <p:sp>
        <p:nvSpPr>
          <p:cNvPr id="783998465" name="Shape 28"/>
          <p:cNvSpPr/>
          <p:nvPr/>
        </p:nvSpPr>
        <p:spPr bwMode="auto">
          <a:xfrm>
            <a:off x="8942832" y="3090672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F4F8FB"/>
          </a:solidFill>
          <a:ln/>
          <a:effectLst>
            <a:outerShdw blurRad="76200" dist="25400" dir="5400000" sx="100000" sy="100000" kx="0" ky="0" algn="bl" rotWithShape="0">
              <a:srgbClr val="9AAED0">
                <a:alpha val="30000"/>
              </a:srgbClr>
            </a:outerShdw>
          </a:effectLst>
        </p:spPr>
      </p:sp>
      <p:sp>
        <p:nvSpPr>
          <p:cNvPr id="2093905447" name="Shape 29"/>
          <p:cNvSpPr/>
          <p:nvPr/>
        </p:nvSpPr>
        <p:spPr bwMode="auto">
          <a:xfrm>
            <a:off x="9144000" y="32735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2359274" name="Image 3" descr="/home/claude/traventure_ppt/icon_users_FFFFFF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203436" y="3332988"/>
            <a:ext cx="338328" cy="338328"/>
          </a:xfrm>
          <a:prstGeom prst="rect">
            <a:avLst/>
          </a:prstGeom>
        </p:spPr>
      </p:pic>
      <p:sp>
        <p:nvSpPr>
          <p:cNvPr id="1711351099" name="Text 30"/>
          <p:cNvSpPr/>
          <p:nvPr/>
        </p:nvSpPr>
        <p:spPr bwMode="auto">
          <a:xfrm>
            <a:off x="9144000" y="38039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No Personalization</a:t>
            </a:r>
            <a:endParaRPr lang="en-US" sz="1250"/>
          </a:p>
        </p:txBody>
      </p:sp>
      <p:sp>
        <p:nvSpPr>
          <p:cNvPr id="427582110" name="Text 31"/>
          <p:cNvSpPr/>
          <p:nvPr/>
        </p:nvSpPr>
        <p:spPr bwMode="auto">
          <a:xfrm>
            <a:off x="9144000" y="405993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One-size-fits-all suggestions.</a:t>
            </a:r>
            <a:endParaRPr lang="en-US" sz="1000"/>
          </a:p>
        </p:txBody>
      </p:sp>
      <p:sp>
        <p:nvSpPr>
          <p:cNvPr id="539540907" name="Shape 32"/>
          <p:cNvSpPr/>
          <p:nvPr/>
        </p:nvSpPr>
        <p:spPr bwMode="auto">
          <a:xfrm>
            <a:off x="640080" y="562356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919594927" name="Text 33"/>
          <p:cNvSpPr/>
          <p:nvPr/>
        </p:nvSpPr>
        <p:spPr bwMode="auto"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Most travel platforms specialize in one slice of the journey — none plan the whole trip with you.</a:t>
            </a:r>
            <a:endParaRPr lang="en-US" sz="1350"/>
          </a:p>
        </p:txBody>
      </p:sp>
      <p:sp>
        <p:nvSpPr>
          <p:cNvPr id="896335098" name="Text 34"/>
          <p:cNvSpPr/>
          <p:nvPr/>
        </p:nvSpPr>
        <p:spPr bwMode="auto">
          <a:xfrm>
            <a:off x="457200" y="63916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 spc="200">
                <a:solidFill>
                  <a:srgbClr val="A9B4C7"/>
                </a:solidFill>
                <a:latin typeface="Calibri"/>
                <a:ea typeface="Calibri"/>
                <a:cs typeface="Calibri"/>
              </a:rPr>
              <a:t>TRAVENTURE</a:t>
            </a:r>
            <a:endParaRPr lang="en-US" sz="900"/>
          </a:p>
        </p:txBody>
      </p:sp>
      <p:sp>
        <p:nvSpPr>
          <p:cNvPr id="628730903" name="Text 35"/>
          <p:cNvSpPr/>
          <p:nvPr/>
        </p:nvSpPr>
        <p:spPr bwMode="auto"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A9B4C7"/>
                </a:solidFill>
                <a:latin typeface="Calibri"/>
                <a:ea typeface="Calibri"/>
                <a:cs typeface="Calibri"/>
              </a:rPr>
              <a:t>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362729" name="Text 0"/>
          <p:cNvSpPr/>
          <p:nvPr/>
        </p:nvSpPr>
        <p:spPr bwMode="auto"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FF6B4A"/>
                </a:solidFill>
                <a:latin typeface="Calibri"/>
                <a:ea typeface="Calibri"/>
                <a:cs typeface="Calibri"/>
              </a:rPr>
              <a:t>THE SOLUTION</a:t>
            </a:r>
            <a:endParaRPr lang="en-US" sz="1300"/>
          </a:p>
        </p:txBody>
      </p:sp>
      <p:sp>
        <p:nvSpPr>
          <p:cNvPr id="783365480" name="Text 1"/>
          <p:cNvSpPr/>
          <p:nvPr/>
        </p:nvSpPr>
        <p:spPr bwMode="auto"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One AI travel companion, instead of six browser tabs</a:t>
            </a:r>
            <a:endParaRPr lang="en-US" sz="2800"/>
          </a:p>
        </p:txBody>
      </p:sp>
      <p:sp>
        <p:nvSpPr>
          <p:cNvPr id="466967888" name="Text 2"/>
          <p:cNvSpPr/>
          <p:nvPr/>
        </p:nvSpPr>
        <p:spPr bwMode="auto">
          <a:xfrm>
            <a:off x="640080" y="14813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Traventure centralizes travel planning behind a single conversational AI assistant — users describe what they need, and the platform organizes the rest.</a:t>
            </a:r>
            <a:endParaRPr lang="en-US" sz="1300"/>
          </a:p>
        </p:txBody>
      </p:sp>
      <p:sp>
        <p:nvSpPr>
          <p:cNvPr id="2122257144" name="Shape 3"/>
          <p:cNvSpPr/>
          <p:nvPr/>
        </p:nvSpPr>
        <p:spPr bwMode="auto">
          <a:xfrm>
            <a:off x="640080" y="224028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F4F8FB"/>
          </a:solidFill>
          <a:ln/>
          <a:effectLst>
            <a:outerShdw blurRad="76200" dist="25400" dir="5400000" sx="100000" sy="100000" kx="0" ky="0" algn="bl" rotWithShape="0">
              <a:srgbClr val="9AAED0">
                <a:alpha val="28000"/>
              </a:srgbClr>
            </a:outerShdw>
          </a:effectLst>
        </p:spPr>
      </p:sp>
      <p:sp>
        <p:nvSpPr>
          <p:cNvPr id="720334877" name="Shape 4"/>
          <p:cNvSpPr/>
          <p:nvPr/>
        </p:nvSpPr>
        <p:spPr bwMode="auto">
          <a:xfrm>
            <a:off x="877824" y="247802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79282931" name="Image 0" descr="/home/claude/traventure_ppt/icon_robot_FFFFFF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51525" y="2584787"/>
            <a:ext cx="419526" cy="353399"/>
          </a:xfrm>
          <a:prstGeom prst="rect">
            <a:avLst/>
          </a:prstGeom>
        </p:spPr>
      </p:pic>
      <p:sp>
        <p:nvSpPr>
          <p:cNvPr id="723534436" name="Text 5"/>
          <p:cNvSpPr/>
          <p:nvPr/>
        </p:nvSpPr>
        <p:spPr bwMode="auto">
          <a:xfrm>
            <a:off x="877824" y="3172968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AI Chatbot Interaction</a:t>
            </a:r>
            <a:endParaRPr lang="en-US" sz="1350"/>
          </a:p>
        </p:txBody>
      </p:sp>
      <p:sp>
        <p:nvSpPr>
          <p:cNvPr id="1265032039" name="Text 6"/>
          <p:cNvSpPr/>
          <p:nvPr/>
        </p:nvSpPr>
        <p:spPr bwMode="auto">
          <a:xfrm>
            <a:off x="877824" y="352044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Natural-language travel assistant users can ask anything</a:t>
            </a:r>
            <a:endParaRPr lang="en-US" sz="1050"/>
          </a:p>
        </p:txBody>
      </p:sp>
      <p:sp>
        <p:nvSpPr>
          <p:cNvPr id="1866809649" name="Shape 7"/>
          <p:cNvSpPr/>
          <p:nvPr/>
        </p:nvSpPr>
        <p:spPr bwMode="auto">
          <a:xfrm>
            <a:off x="4352544" y="224028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F4F8FB"/>
          </a:solidFill>
          <a:ln/>
          <a:effectLst>
            <a:outerShdw blurRad="76200" dist="25400" dir="5400000" sx="100000" sy="100000" kx="0" ky="0" algn="bl" rotWithShape="0">
              <a:srgbClr val="9AAED0">
                <a:alpha val="28000"/>
              </a:srgbClr>
            </a:outerShdw>
          </a:effectLst>
        </p:spPr>
      </p:sp>
      <p:sp>
        <p:nvSpPr>
          <p:cNvPr id="565636622" name="Shape 8"/>
          <p:cNvSpPr/>
          <p:nvPr/>
        </p:nvSpPr>
        <p:spPr bwMode="auto">
          <a:xfrm>
            <a:off x="4590288" y="247802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00075779" name="Image 1" descr="/home/claude/traventure_ppt/icon_map_FFFFFF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663989" y="2551724"/>
            <a:ext cx="419526" cy="386462"/>
          </a:xfrm>
          <a:prstGeom prst="rect">
            <a:avLst/>
          </a:prstGeom>
        </p:spPr>
      </p:pic>
      <p:sp>
        <p:nvSpPr>
          <p:cNvPr id="1539873999" name="Text 9"/>
          <p:cNvSpPr/>
          <p:nvPr/>
        </p:nvSpPr>
        <p:spPr bwMode="auto">
          <a:xfrm>
            <a:off x="4590288" y="3172968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Destination Recommendations</a:t>
            </a:r>
            <a:endParaRPr lang="en-US" sz="1350"/>
          </a:p>
        </p:txBody>
      </p:sp>
      <p:sp>
        <p:nvSpPr>
          <p:cNvPr id="946309743" name="Text 10"/>
          <p:cNvSpPr/>
          <p:nvPr/>
        </p:nvSpPr>
        <p:spPr bwMode="auto">
          <a:xfrm>
            <a:off x="4590288" y="352044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Suggestions based on traveler interests</a:t>
            </a:r>
            <a:endParaRPr lang="en-US" sz="1050"/>
          </a:p>
        </p:txBody>
      </p:sp>
      <p:sp>
        <p:nvSpPr>
          <p:cNvPr id="311331092" name="Shape 11"/>
          <p:cNvSpPr/>
          <p:nvPr/>
        </p:nvSpPr>
        <p:spPr bwMode="auto">
          <a:xfrm>
            <a:off x="8065008" y="224028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F4F8FB"/>
          </a:solidFill>
          <a:ln/>
          <a:effectLst>
            <a:outerShdw blurRad="76200" dist="25400" dir="5400000" sx="100000" sy="100000" kx="0" ky="0" algn="bl" rotWithShape="0">
              <a:srgbClr val="9AAED0">
                <a:alpha val="28000"/>
              </a:srgbClr>
            </a:outerShdw>
          </a:effectLst>
        </p:spPr>
      </p:sp>
      <p:sp>
        <p:nvSpPr>
          <p:cNvPr id="430466045" name="Shape 12"/>
          <p:cNvSpPr/>
          <p:nvPr/>
        </p:nvSpPr>
        <p:spPr bwMode="auto">
          <a:xfrm>
            <a:off x="8302752" y="247802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30726571" name="Image 2" descr="/home/claude/traventure_ppt/icon_weather_FFFFFF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376453" y="2551724"/>
            <a:ext cx="419526" cy="386462"/>
          </a:xfrm>
          <a:prstGeom prst="rect">
            <a:avLst/>
          </a:prstGeom>
        </p:spPr>
      </p:pic>
      <p:sp>
        <p:nvSpPr>
          <p:cNvPr id="261932511" name="Text 13"/>
          <p:cNvSpPr/>
          <p:nvPr/>
        </p:nvSpPr>
        <p:spPr bwMode="auto">
          <a:xfrm>
            <a:off x="8302752" y="3172968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Weather Information</a:t>
            </a:r>
            <a:endParaRPr lang="en-US" sz="1350"/>
          </a:p>
        </p:txBody>
      </p:sp>
      <p:sp>
        <p:nvSpPr>
          <p:cNvPr id="1236702251" name="Text 14"/>
          <p:cNvSpPr/>
          <p:nvPr/>
        </p:nvSpPr>
        <p:spPr bwMode="auto">
          <a:xfrm>
            <a:off x="8302752" y="352044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Forecasts that inform smarter planning</a:t>
            </a:r>
            <a:endParaRPr lang="en-US" sz="1050"/>
          </a:p>
        </p:txBody>
      </p:sp>
      <p:sp>
        <p:nvSpPr>
          <p:cNvPr id="63178358" name="Shape 15"/>
          <p:cNvSpPr/>
          <p:nvPr/>
        </p:nvSpPr>
        <p:spPr bwMode="auto">
          <a:xfrm>
            <a:off x="640080" y="429768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F4F8FB"/>
          </a:solidFill>
          <a:ln/>
          <a:effectLst>
            <a:outerShdw blurRad="76200" dist="25400" dir="5400000" sx="100000" sy="100000" kx="0" ky="0" algn="bl" rotWithShape="0">
              <a:srgbClr val="9AAED0">
                <a:alpha val="28000"/>
              </a:srgbClr>
            </a:outerShdw>
          </a:effectLst>
        </p:spPr>
      </p:sp>
      <p:sp>
        <p:nvSpPr>
          <p:cNvPr id="1695104568" name="Shape 16"/>
          <p:cNvSpPr/>
          <p:nvPr/>
        </p:nvSpPr>
        <p:spPr bwMode="auto">
          <a:xfrm>
            <a:off x="877824" y="453542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08873255" name="Image 3" descr="/home/claude/traventure_ppt/icon_plane_FFFFFF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951525" y="4609125"/>
            <a:ext cx="419526" cy="367687"/>
          </a:xfrm>
          <a:prstGeom prst="rect">
            <a:avLst/>
          </a:prstGeom>
        </p:spPr>
      </p:pic>
      <p:sp>
        <p:nvSpPr>
          <p:cNvPr id="1550951993" name="Text 17"/>
          <p:cNvSpPr/>
          <p:nvPr/>
        </p:nvSpPr>
        <p:spPr bwMode="auto">
          <a:xfrm>
            <a:off x="877824" y="5230368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Tourist Attractions</a:t>
            </a:r>
            <a:endParaRPr lang="en-US" sz="1350"/>
          </a:p>
        </p:txBody>
      </p:sp>
      <p:sp>
        <p:nvSpPr>
          <p:cNvPr id="1677633487" name="Text 18"/>
          <p:cNvSpPr/>
          <p:nvPr/>
        </p:nvSpPr>
        <p:spPr bwMode="auto">
          <a:xfrm>
            <a:off x="877824" y="557784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Curated highlights for chosen destinations</a:t>
            </a:r>
            <a:endParaRPr lang="en-US" sz="1050"/>
          </a:p>
        </p:txBody>
      </p:sp>
      <p:sp>
        <p:nvSpPr>
          <p:cNvPr id="1287015752" name="Shape 19"/>
          <p:cNvSpPr/>
          <p:nvPr/>
        </p:nvSpPr>
        <p:spPr bwMode="auto">
          <a:xfrm>
            <a:off x="4352544" y="429768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F4F8FB"/>
          </a:solidFill>
          <a:ln/>
          <a:effectLst>
            <a:outerShdw blurRad="76200" dist="25400" dir="5400000" sx="100000" sy="100000" kx="0" ky="0" algn="bl" rotWithShape="0">
              <a:srgbClr val="9AAED0">
                <a:alpha val="28000"/>
              </a:srgbClr>
            </a:outerShdw>
          </a:effectLst>
        </p:spPr>
      </p:sp>
      <p:sp>
        <p:nvSpPr>
          <p:cNvPr id="1723349635" name="Shape 20"/>
          <p:cNvSpPr/>
          <p:nvPr/>
        </p:nvSpPr>
        <p:spPr bwMode="auto">
          <a:xfrm>
            <a:off x="4590288" y="453542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70148208" name="Image 4" descr="/home/claude/traventure_ppt/icon_food_FFFFFF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4663989" y="4609125"/>
            <a:ext cx="419527" cy="419527"/>
          </a:xfrm>
          <a:prstGeom prst="rect">
            <a:avLst/>
          </a:prstGeom>
        </p:spPr>
      </p:pic>
      <p:sp>
        <p:nvSpPr>
          <p:cNvPr id="1752870522" name="Text 21"/>
          <p:cNvSpPr/>
          <p:nvPr/>
        </p:nvSpPr>
        <p:spPr bwMode="auto">
          <a:xfrm>
            <a:off x="4590288" y="5230368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Restaurant Suggestions</a:t>
            </a:r>
            <a:endParaRPr lang="en-US" sz="1350"/>
          </a:p>
        </p:txBody>
      </p:sp>
      <p:sp>
        <p:nvSpPr>
          <p:cNvPr id="1004892839" name="Text 22"/>
          <p:cNvSpPr/>
          <p:nvPr/>
        </p:nvSpPr>
        <p:spPr bwMode="auto">
          <a:xfrm>
            <a:off x="4590288" y="557784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Nearby food discovery while planning</a:t>
            </a:r>
            <a:endParaRPr lang="en-US" sz="1050"/>
          </a:p>
        </p:txBody>
      </p:sp>
      <p:sp>
        <p:nvSpPr>
          <p:cNvPr id="526316720" name="Shape 23"/>
          <p:cNvSpPr/>
          <p:nvPr/>
        </p:nvSpPr>
        <p:spPr bwMode="auto">
          <a:xfrm>
            <a:off x="8065008" y="429768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F4F8FB"/>
          </a:solidFill>
          <a:ln/>
          <a:effectLst>
            <a:outerShdw blurRad="76200" dist="25400" dir="5400000" sx="100000" sy="100000" kx="0" ky="0" algn="bl" rotWithShape="0">
              <a:srgbClr val="9AAED0">
                <a:alpha val="28000"/>
              </a:srgbClr>
            </a:outerShdw>
          </a:effectLst>
        </p:spPr>
      </p:sp>
      <p:sp>
        <p:nvSpPr>
          <p:cNvPr id="1790864374" name="Shape 24"/>
          <p:cNvSpPr/>
          <p:nvPr/>
        </p:nvSpPr>
        <p:spPr bwMode="auto">
          <a:xfrm>
            <a:off x="8302752" y="453542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21612338" name="Image 5" descr="/home/claude/traventure_ppt/icon_route_FFFFFF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8376453" y="4609125"/>
            <a:ext cx="419526" cy="367687"/>
          </a:xfrm>
          <a:prstGeom prst="rect">
            <a:avLst/>
          </a:prstGeom>
        </p:spPr>
      </p:pic>
      <p:sp>
        <p:nvSpPr>
          <p:cNvPr id="1422707801" name="Text 25"/>
          <p:cNvSpPr/>
          <p:nvPr/>
        </p:nvSpPr>
        <p:spPr bwMode="auto">
          <a:xfrm>
            <a:off x="8302752" y="5230368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Route Guidance</a:t>
            </a:r>
            <a:endParaRPr lang="en-US" sz="1350"/>
          </a:p>
        </p:txBody>
      </p:sp>
      <p:sp>
        <p:nvSpPr>
          <p:cNvPr id="837740819" name="Text 26"/>
          <p:cNvSpPr/>
          <p:nvPr/>
        </p:nvSpPr>
        <p:spPr bwMode="auto">
          <a:xfrm>
            <a:off x="8302752" y="557784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Help identifying suitable travel routes</a:t>
            </a:r>
            <a:endParaRPr lang="en-US" sz="1050"/>
          </a:p>
        </p:txBody>
      </p:sp>
      <p:sp>
        <p:nvSpPr>
          <p:cNvPr id="1070624345" name="Text 27"/>
          <p:cNvSpPr/>
          <p:nvPr/>
        </p:nvSpPr>
        <p:spPr bwMode="auto">
          <a:xfrm>
            <a:off x="457200" y="635022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 spc="200">
                <a:solidFill>
                  <a:srgbClr val="A9B4C7"/>
                </a:solidFill>
                <a:latin typeface="Calibri"/>
                <a:ea typeface="Calibri"/>
                <a:cs typeface="Calibri"/>
              </a:rPr>
              <a:t>TRAVENTURE</a:t>
            </a:r>
            <a:endParaRPr lang="en-US" sz="900"/>
          </a:p>
        </p:txBody>
      </p:sp>
      <p:sp>
        <p:nvSpPr>
          <p:cNvPr id="1100486308" name="Text 28"/>
          <p:cNvSpPr/>
          <p:nvPr/>
        </p:nvSpPr>
        <p:spPr bwMode="auto"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A9B4C7"/>
                </a:solidFill>
                <a:latin typeface="Calibri"/>
                <a:ea typeface="Calibri"/>
                <a:cs typeface="Calibri"/>
              </a:rPr>
              <a:t>3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632585" name="TextBox 1"/>
          <p:cNvSpPr txBox="1"/>
          <p:nvPr/>
        </p:nvSpPr>
        <p:spPr bwMode="auto"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300" b="1" i="0" spc="200">
                <a:solidFill>
                  <a:srgbClr val="FF6B4A"/>
                </a:solidFill>
                <a:latin typeface="Calibri"/>
              </a:rPr>
              <a:t>SEE IT LIVE</a:t>
            </a:r>
            <a:endParaRPr/>
          </a:p>
        </p:txBody>
      </p:sp>
      <p:sp>
        <p:nvSpPr>
          <p:cNvPr id="1208580566" name="TextBox 2"/>
          <p:cNvSpPr txBox="1"/>
          <p:nvPr/>
        </p:nvSpPr>
        <p:spPr bwMode="auto">
          <a:xfrm>
            <a:off x="640080" y="77724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21295C"/>
                </a:solidFill>
                <a:latin typeface="Cambria"/>
              </a:rPr>
              <a:t>Not a mock-up — the actual product</a:t>
            </a:r>
            <a:endParaRPr/>
          </a:p>
        </p:txBody>
      </p:sp>
      <p:sp>
        <p:nvSpPr>
          <p:cNvPr id="124357878" name="TextBox 3"/>
          <p:cNvSpPr txBox="1"/>
          <p:nvPr/>
        </p:nvSpPr>
        <p:spPr bwMode="auto">
          <a:xfrm flipH="0" flipV="0">
            <a:off x="640080" y="1457112"/>
            <a:ext cx="9877679" cy="198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5A6B85"/>
                </a:solidFill>
                <a:latin typeface="Calibri"/>
              </a:rPr>
              <a:t>Live screens pulled directly from traventure-4m5a.onrender.com, no placeholders.</a:t>
            </a:r>
            <a:endParaRPr/>
          </a:p>
        </p:txBody>
      </p:sp>
      <p:sp>
        <p:nvSpPr>
          <p:cNvPr id="569003868" name="TextBox 4"/>
          <p:cNvSpPr txBox="1"/>
          <p:nvPr/>
        </p:nvSpPr>
        <p:spPr bwMode="auto">
          <a:xfrm>
            <a:off x="640080" y="1650000"/>
            <a:ext cx="523836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50" b="1" i="0" spc="150">
                <a:solidFill>
                  <a:srgbClr val="1C7293"/>
                </a:solidFill>
                <a:latin typeface="Calibri"/>
              </a:rPr>
              <a:t>HOME — SMART DASHBOARD</a:t>
            </a:r>
            <a:endParaRPr/>
          </a:p>
        </p:txBody>
      </p:sp>
      <p:sp>
        <p:nvSpPr>
          <p:cNvPr id="1971327902" name="TextBox 5"/>
          <p:cNvSpPr txBox="1"/>
          <p:nvPr/>
        </p:nvSpPr>
        <p:spPr bwMode="auto">
          <a:xfrm>
            <a:off x="6118440" y="1650000"/>
            <a:ext cx="523836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50" b="1" i="0" spc="150">
                <a:solidFill>
                  <a:srgbClr val="1C7293"/>
                </a:solidFill>
                <a:latin typeface="Calibri"/>
              </a:rPr>
              <a:t>ASK AI — TRAVEL CHATBOT</a:t>
            </a:r>
            <a:endParaRPr/>
          </a:p>
        </p:txBody>
      </p:sp>
      <p:sp>
        <p:nvSpPr>
          <p:cNvPr id="957385163" name="Rounded Rectangle 6"/>
          <p:cNvSpPr/>
          <p:nvPr/>
        </p:nvSpPr>
        <p:spPr bwMode="auto">
          <a:xfrm>
            <a:off x="640080" y="1980000"/>
            <a:ext cx="5238360" cy="3300000"/>
          </a:xfrm>
          <a:prstGeom prst="roundRect">
            <a:avLst>
              <a:gd name="adj" fmla="val 5128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0182347" name="Rounded Rectangle 7"/>
          <p:cNvSpPr/>
          <p:nvPr/>
        </p:nvSpPr>
        <p:spPr bwMode="auto">
          <a:xfrm>
            <a:off x="6118440" y="1980000"/>
            <a:ext cx="5238360" cy="3300000"/>
          </a:xfrm>
          <a:prstGeom prst="roundRect">
            <a:avLst>
              <a:gd name="adj" fmla="val 5128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41899938" name="Picture 8" descr="hom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83396" y="2190000"/>
            <a:ext cx="3751728" cy="22600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pic>
        <p:nvPicPr>
          <p:cNvPr id="1740494147" name="Picture 9" descr="askai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894513" y="2190000"/>
            <a:ext cx="3686213" cy="22600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367269404" name="TextBox 10"/>
          <p:cNvSpPr txBox="1"/>
          <p:nvPr/>
        </p:nvSpPr>
        <p:spPr bwMode="auto">
          <a:xfrm>
            <a:off x="790080" y="4630000"/>
            <a:ext cx="493836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050" b="0" i="0">
                <a:solidFill>
                  <a:srgbClr val="5A6B85"/>
                </a:solidFill>
                <a:latin typeface="Calibri"/>
              </a:rPr>
              <a:t>Greets the traveler, pulls live weather for their city, and ranks nearby places &amp; food by real ratings and distance.</a:t>
            </a:r>
            <a:endParaRPr/>
          </a:p>
        </p:txBody>
      </p:sp>
      <p:sp>
        <p:nvSpPr>
          <p:cNvPr id="676735340" name="TextBox 11"/>
          <p:cNvSpPr txBox="1"/>
          <p:nvPr/>
        </p:nvSpPr>
        <p:spPr bwMode="auto">
          <a:xfrm>
            <a:off x="6268440" y="4630000"/>
            <a:ext cx="493836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050" b="0" i="0">
                <a:solidFill>
                  <a:srgbClr val="5A6B85"/>
                </a:solidFill>
                <a:latin typeface="Calibri"/>
              </a:rPr>
              <a:t>An easy-to-use AI/ML travel bot — tap a quick prompt or type naturally, and it plans the trip on the spot.</a:t>
            </a:r>
            <a:endParaRPr/>
          </a:p>
        </p:txBody>
      </p:sp>
      <p:sp>
        <p:nvSpPr>
          <p:cNvPr id="1021309556" name="Rounded Rectangle 12"/>
          <p:cNvSpPr/>
          <p:nvPr/>
        </p:nvSpPr>
        <p:spPr bwMode="auto">
          <a:xfrm>
            <a:off x="640080" y="562356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9431587" name="TextBox 13"/>
          <p:cNvSpPr txBox="1"/>
          <p:nvPr/>
        </p:nvSpPr>
        <p:spPr bwMode="auto">
          <a:xfrm>
            <a:off x="914400" y="5623560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350" b="0" i="1">
                <a:solidFill>
                  <a:srgbClr val="CADCFC"/>
                </a:solidFill>
                <a:latin typeface="Calibri"/>
              </a:rPr>
              <a:t>Two screens, one goal: replace six browser tabs with a single conversation.</a:t>
            </a:r>
            <a:endParaRPr/>
          </a:p>
        </p:txBody>
      </p:sp>
      <p:sp>
        <p:nvSpPr>
          <p:cNvPr id="1091336465" name="TextBox 14"/>
          <p:cNvSpPr txBox="1"/>
          <p:nvPr/>
        </p:nvSpPr>
        <p:spPr bwMode="auto">
          <a:xfrm>
            <a:off x="457200" y="6409753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900" b="1" i="0" spc="200">
                <a:solidFill>
                  <a:srgbClr val="A9B4C7"/>
                </a:solidFill>
                <a:latin typeface="Calibri"/>
              </a:rPr>
              <a:t>TRAVENTURE</a:t>
            </a:r>
            <a:endParaRPr/>
          </a:p>
        </p:txBody>
      </p:sp>
      <p:sp>
        <p:nvSpPr>
          <p:cNvPr id="2077693711" name="TextBox 15"/>
          <p:cNvSpPr txBox="1"/>
          <p:nvPr/>
        </p:nvSpPr>
        <p:spPr bwMode="auto">
          <a:xfrm>
            <a:off x="1143000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A9B4C7"/>
                </a:solidFill>
                <a:latin typeface="Calibri"/>
              </a:rPr>
              <a:t>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701943" name="TextBox 1"/>
          <p:cNvSpPr txBox="1"/>
          <p:nvPr/>
        </p:nvSpPr>
        <p:spPr bwMode="auto"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300" b="1" i="0" spc="200">
                <a:solidFill>
                  <a:srgbClr val="FF6B4A"/>
                </a:solidFill>
                <a:latin typeface="Calibri"/>
              </a:rPr>
              <a:t>PERSONALIZATION</a:t>
            </a:r>
            <a:endParaRPr/>
          </a:p>
        </p:txBody>
      </p:sp>
      <p:sp>
        <p:nvSpPr>
          <p:cNvPr id="1949572230" name="TextBox 2"/>
          <p:cNvSpPr txBox="1"/>
          <p:nvPr/>
        </p:nvSpPr>
        <p:spPr bwMode="auto">
          <a:xfrm>
            <a:off x="640080" y="77724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21295C"/>
                </a:solidFill>
                <a:latin typeface="Cambria"/>
              </a:rPr>
              <a:t>Every recommendation adapts to the traveler</a:t>
            </a:r>
            <a:endParaRPr/>
          </a:p>
        </p:txBody>
      </p:sp>
      <p:sp>
        <p:nvSpPr>
          <p:cNvPr id="20378926" name="TextBox 3"/>
          <p:cNvSpPr txBox="1"/>
          <p:nvPr/>
        </p:nvSpPr>
        <p:spPr bwMode="auto">
          <a:xfrm flipH="0" flipV="0">
            <a:off x="640080" y="1484755"/>
            <a:ext cx="9876959" cy="198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5A6B85"/>
                </a:solidFill>
                <a:latin typeface="Calibri"/>
              </a:rPr>
              <a:t>The Account screen shows how stated preferences quietly reshape suggestions everywhere else in the app.</a:t>
            </a:r>
            <a:endParaRPr/>
          </a:p>
        </p:txBody>
      </p:sp>
      <p:sp>
        <p:nvSpPr>
          <p:cNvPr id="1596448491" name="TextBox 4"/>
          <p:cNvSpPr txBox="1"/>
          <p:nvPr/>
        </p:nvSpPr>
        <p:spPr bwMode="auto">
          <a:xfrm>
            <a:off x="640080" y="1650000"/>
            <a:ext cx="580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50" b="1" i="0" spc="150">
                <a:solidFill>
                  <a:srgbClr val="1C7293"/>
                </a:solidFill>
                <a:latin typeface="Calibri"/>
              </a:rPr>
              <a:t>ACCOUNT — TRAVEL STYLE &amp; IMPACT</a:t>
            </a:r>
            <a:endParaRPr/>
          </a:p>
        </p:txBody>
      </p:sp>
      <p:sp>
        <p:nvSpPr>
          <p:cNvPr id="234524906" name="Rounded Rectangle 5"/>
          <p:cNvSpPr/>
          <p:nvPr/>
        </p:nvSpPr>
        <p:spPr bwMode="auto">
          <a:xfrm>
            <a:off x="640080" y="1980000"/>
            <a:ext cx="5800000" cy="3550000"/>
          </a:xfrm>
          <a:prstGeom prst="roundRect">
            <a:avLst>
              <a:gd name="adj" fmla="val 5128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63269388" name="Picture 6" descr="accoun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82012" y="2130000"/>
            <a:ext cx="5316135" cy="325000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989970282" name="Oval 7"/>
          <p:cNvSpPr/>
          <p:nvPr/>
        </p:nvSpPr>
        <p:spPr bwMode="auto">
          <a:xfrm>
            <a:off x="6800079" y="2093999"/>
            <a:ext cx="72000" cy="7200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0803354" name="TextBox 8"/>
          <p:cNvSpPr txBox="1"/>
          <p:nvPr/>
        </p:nvSpPr>
        <p:spPr bwMode="auto">
          <a:xfrm>
            <a:off x="6980080" y="1980000"/>
            <a:ext cx="454136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21295C"/>
                </a:solidFill>
                <a:latin typeface="Calibri"/>
              </a:rPr>
              <a:t>Travel-style tags</a:t>
            </a:r>
            <a:endParaRPr/>
          </a:p>
        </p:txBody>
      </p:sp>
      <p:sp>
        <p:nvSpPr>
          <p:cNvPr id="1817175497" name="TextBox 9"/>
          <p:cNvSpPr txBox="1"/>
          <p:nvPr/>
        </p:nvSpPr>
        <p:spPr bwMode="auto">
          <a:xfrm>
            <a:off x="6980080" y="2320000"/>
            <a:ext cx="4541360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100" b="0" i="0">
                <a:solidFill>
                  <a:srgbClr val="5A6B85"/>
                </a:solidFill>
                <a:latin typeface="Calibri"/>
              </a:rPr>
              <a:t>Budget Traveler, Food Lover, Nature Lover, Eco Traveler and more feed straight into the AI's suggestions.</a:t>
            </a:r>
            <a:endParaRPr/>
          </a:p>
        </p:txBody>
      </p:sp>
      <p:sp>
        <p:nvSpPr>
          <p:cNvPr id="604240913" name="Oval 10"/>
          <p:cNvSpPr/>
          <p:nvPr/>
        </p:nvSpPr>
        <p:spPr bwMode="auto">
          <a:xfrm>
            <a:off x="6800079" y="3253999"/>
            <a:ext cx="72000" cy="720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9365286" name="TextBox 11"/>
          <p:cNvSpPr txBox="1"/>
          <p:nvPr/>
        </p:nvSpPr>
        <p:spPr bwMode="auto">
          <a:xfrm>
            <a:off x="6980080" y="3130000"/>
            <a:ext cx="454136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21295C"/>
                </a:solidFill>
                <a:latin typeface="Calibri"/>
              </a:rPr>
              <a:t>Eco impact tracking</a:t>
            </a:r>
            <a:endParaRPr/>
          </a:p>
        </p:txBody>
      </p:sp>
      <p:sp>
        <p:nvSpPr>
          <p:cNvPr id="871234734" name="TextBox 12"/>
          <p:cNvSpPr txBox="1"/>
          <p:nvPr/>
        </p:nvSpPr>
        <p:spPr bwMode="auto">
          <a:xfrm>
            <a:off x="6980080" y="3470000"/>
            <a:ext cx="4541360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100" b="0" i="0">
                <a:solidFill>
                  <a:srgbClr val="5A6B85"/>
                </a:solidFill>
                <a:latin typeface="Calibri"/>
              </a:rPr>
              <a:t>Real usage stats — like eco-routes chosen and CO₂ saved — keep sustainable choices visible, not abstract.</a:t>
            </a:r>
            <a:endParaRPr/>
          </a:p>
        </p:txBody>
      </p:sp>
      <p:sp>
        <p:nvSpPr>
          <p:cNvPr id="101188079" name="Oval 13"/>
          <p:cNvSpPr/>
          <p:nvPr/>
        </p:nvSpPr>
        <p:spPr bwMode="auto">
          <a:xfrm flipH="0" flipV="0">
            <a:off x="6800079" y="4403999"/>
            <a:ext cx="72000" cy="720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5372073" name="TextBox 14"/>
          <p:cNvSpPr txBox="1"/>
          <p:nvPr/>
        </p:nvSpPr>
        <p:spPr bwMode="auto">
          <a:xfrm>
            <a:off x="6980080" y="4280000"/>
            <a:ext cx="454136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21295C"/>
                </a:solidFill>
                <a:latin typeface="Calibri"/>
              </a:rPr>
              <a:t>Smart suggestions, on your terms</a:t>
            </a:r>
            <a:endParaRPr/>
          </a:p>
        </p:txBody>
      </p:sp>
      <p:sp>
        <p:nvSpPr>
          <p:cNvPr id="2105451594" name="TextBox 15"/>
          <p:cNvSpPr txBox="1"/>
          <p:nvPr/>
        </p:nvSpPr>
        <p:spPr bwMode="auto">
          <a:xfrm>
            <a:off x="6980080" y="4620000"/>
            <a:ext cx="4541360" cy="7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100" b="0" i="0">
                <a:solidFill>
                  <a:srgbClr val="5A6B85"/>
                </a:solidFill>
                <a:latin typeface="Calibri"/>
              </a:rPr>
              <a:t>Toggles for smart suggestions and travel alerts let each traveler control how much AI personalization they want.</a:t>
            </a:r>
            <a:endParaRPr/>
          </a:p>
        </p:txBody>
      </p:sp>
      <p:sp>
        <p:nvSpPr>
          <p:cNvPr id="817337930" name="Rounded Rectangle 16"/>
          <p:cNvSpPr/>
          <p:nvPr/>
        </p:nvSpPr>
        <p:spPr bwMode="auto">
          <a:xfrm>
            <a:off x="640080" y="562356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361792" name="TextBox 17"/>
          <p:cNvSpPr txBox="1"/>
          <p:nvPr/>
        </p:nvSpPr>
        <p:spPr bwMode="auto">
          <a:xfrm>
            <a:off x="914400" y="5623560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350" b="0" i="1">
                <a:solidFill>
                  <a:srgbClr val="CADCFC"/>
                </a:solidFill>
                <a:latin typeface="Calibri"/>
              </a:rPr>
              <a:t>Generic platforms give one-size-fits-all suggestions — Traventure listens, and adapts.</a:t>
            </a:r>
            <a:endParaRPr/>
          </a:p>
        </p:txBody>
      </p:sp>
      <p:sp>
        <p:nvSpPr>
          <p:cNvPr id="102865138" name="TextBox 18"/>
          <p:cNvSpPr txBox="1"/>
          <p:nvPr/>
        </p:nvSpPr>
        <p:spPr bwMode="auto">
          <a:xfrm>
            <a:off x="457200" y="6409753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900" b="1" i="0" spc="200">
                <a:solidFill>
                  <a:srgbClr val="A9B4C7"/>
                </a:solidFill>
                <a:latin typeface="Calibri"/>
              </a:rPr>
              <a:t>TRAVENTURE</a:t>
            </a:r>
            <a:endParaRPr/>
          </a:p>
        </p:txBody>
      </p:sp>
      <p:sp>
        <p:nvSpPr>
          <p:cNvPr id="1551688645" name="TextBox 19"/>
          <p:cNvSpPr txBox="1"/>
          <p:nvPr/>
        </p:nvSpPr>
        <p:spPr bwMode="auto">
          <a:xfrm>
            <a:off x="1143000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A9B4C7"/>
                </a:solidFill>
                <a:latin typeface="Calibri"/>
              </a:rPr>
              <a:t>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446330" name="Text 0"/>
          <p:cNvSpPr/>
          <p:nvPr/>
        </p:nvSpPr>
        <p:spPr bwMode="auto"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FF6B4A"/>
                </a:solidFill>
                <a:latin typeface="Calibri"/>
                <a:ea typeface="Calibri"/>
                <a:cs typeface="Calibri"/>
              </a:rPr>
              <a:t>DOMAIN &amp; AUDIENCE</a:t>
            </a:r>
            <a:endParaRPr lang="en-US" sz="1300"/>
          </a:p>
        </p:txBody>
      </p:sp>
      <p:sp>
        <p:nvSpPr>
          <p:cNvPr id="1226032808" name="Text 1"/>
          <p:cNvSpPr/>
          <p:nvPr/>
        </p:nvSpPr>
        <p:spPr bwMode="auto"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Where Traventure fits, and who it's built for</a:t>
            </a:r>
            <a:endParaRPr lang="en-US" sz="2800"/>
          </a:p>
        </p:txBody>
      </p:sp>
      <p:sp>
        <p:nvSpPr>
          <p:cNvPr id="1226227413" name="Shape 2"/>
          <p:cNvSpPr/>
          <p:nvPr/>
        </p:nvSpPr>
        <p:spPr bwMode="auto">
          <a:xfrm>
            <a:off x="640080" y="173736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21295C"/>
          </a:solidFill>
          <a:ln/>
        </p:spPr>
      </p:sp>
      <p:sp>
        <p:nvSpPr>
          <p:cNvPr id="1492510743" name="Text 3"/>
          <p:cNvSpPr/>
          <p:nvPr/>
        </p:nvSpPr>
        <p:spPr bwMode="auto">
          <a:xfrm>
            <a:off x="96012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50">
                <a:solidFill>
                  <a:srgbClr val="FF6B4A"/>
                </a:solidFill>
                <a:latin typeface="Calibri"/>
                <a:ea typeface="Calibri"/>
                <a:cs typeface="Calibri"/>
              </a:rPr>
              <a:t>DOMAIN / SECTOR</a:t>
            </a:r>
            <a:endParaRPr lang="en-US" sz="1200"/>
          </a:p>
        </p:txBody>
      </p:sp>
      <p:sp>
        <p:nvSpPr>
          <p:cNvPr id="1563123299" name="Shape 4"/>
          <p:cNvSpPr/>
          <p:nvPr/>
        </p:nvSpPr>
        <p:spPr bwMode="auto">
          <a:xfrm>
            <a:off x="960120" y="24231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/>
        </p:spPr>
      </p:sp>
      <p:pic>
        <p:nvPicPr>
          <p:cNvPr id="686971530" name="Image 0" descr="/home/claude/traventure_ppt/icon_check_FFFFFF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42416" y="2505456"/>
            <a:ext cx="164592" cy="164592"/>
          </a:xfrm>
          <a:prstGeom prst="rect">
            <a:avLst/>
          </a:prstGeom>
        </p:spPr>
      </p:pic>
      <p:sp>
        <p:nvSpPr>
          <p:cNvPr id="678989758" name="Text 5"/>
          <p:cNvSpPr/>
          <p:nvPr/>
        </p:nvSpPr>
        <p:spPr bwMode="auto">
          <a:xfrm>
            <a:off x="1417320" y="23957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Travel Technology (TravelTech)</a:t>
            </a:r>
            <a:endParaRPr lang="en-US" sz="1400"/>
          </a:p>
        </p:txBody>
      </p:sp>
      <p:sp>
        <p:nvSpPr>
          <p:cNvPr id="950531401" name="Shape 6"/>
          <p:cNvSpPr/>
          <p:nvPr/>
        </p:nvSpPr>
        <p:spPr bwMode="auto">
          <a:xfrm>
            <a:off x="960120" y="29900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/>
        </p:spPr>
      </p:sp>
      <p:pic>
        <p:nvPicPr>
          <p:cNvPr id="358497940" name="Image 1" descr="/home/claude/traventure_ppt/icon_check_FFFFFF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42416" y="3072384"/>
            <a:ext cx="164592" cy="164592"/>
          </a:xfrm>
          <a:prstGeom prst="rect">
            <a:avLst/>
          </a:prstGeom>
        </p:spPr>
      </p:pic>
      <p:sp>
        <p:nvSpPr>
          <p:cNvPr id="1354356559" name="Text 7"/>
          <p:cNvSpPr/>
          <p:nvPr/>
        </p:nvSpPr>
        <p:spPr bwMode="auto">
          <a:xfrm>
            <a:off x="1417320" y="29626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Artificial Intelligence</a:t>
            </a:r>
            <a:endParaRPr lang="en-US" sz="1400"/>
          </a:p>
        </p:txBody>
      </p:sp>
      <p:sp>
        <p:nvSpPr>
          <p:cNvPr id="1984375129" name="Shape 8"/>
          <p:cNvSpPr/>
          <p:nvPr/>
        </p:nvSpPr>
        <p:spPr bwMode="auto">
          <a:xfrm>
            <a:off x="960120" y="355701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/>
        </p:spPr>
      </p:sp>
      <p:pic>
        <p:nvPicPr>
          <p:cNvPr id="312000699" name="Image 2" descr="/home/claude/traventure_ppt/icon_check_FFFFFF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42416" y="3639312"/>
            <a:ext cx="164592" cy="164592"/>
          </a:xfrm>
          <a:prstGeom prst="rect">
            <a:avLst/>
          </a:prstGeom>
        </p:spPr>
      </p:pic>
      <p:sp>
        <p:nvSpPr>
          <p:cNvPr id="1973480141" name="Text 9"/>
          <p:cNvSpPr/>
          <p:nvPr/>
        </p:nvSpPr>
        <p:spPr bwMode="auto">
          <a:xfrm>
            <a:off x="1417320" y="35295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Tourism</a:t>
            </a:r>
            <a:endParaRPr lang="en-US" sz="1400"/>
          </a:p>
        </p:txBody>
      </p:sp>
      <p:sp>
        <p:nvSpPr>
          <p:cNvPr id="1088927032" name="Shape 10"/>
          <p:cNvSpPr/>
          <p:nvPr/>
        </p:nvSpPr>
        <p:spPr bwMode="auto">
          <a:xfrm>
            <a:off x="960120" y="412394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/>
        </p:spPr>
      </p:sp>
      <p:pic>
        <p:nvPicPr>
          <p:cNvPr id="294873698" name="Image 3" descr="/home/claude/traventure_ppt/icon_check_FFFFFF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42416" y="4206240"/>
            <a:ext cx="164592" cy="164592"/>
          </a:xfrm>
          <a:prstGeom prst="rect">
            <a:avLst/>
          </a:prstGeom>
        </p:spPr>
      </p:pic>
      <p:sp>
        <p:nvSpPr>
          <p:cNvPr id="1734581" name="Text 11"/>
          <p:cNvSpPr/>
          <p:nvPr/>
        </p:nvSpPr>
        <p:spPr bwMode="auto">
          <a:xfrm>
            <a:off x="1417320" y="40965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Web Application Development</a:t>
            </a:r>
            <a:endParaRPr lang="en-US" sz="1400"/>
          </a:p>
        </p:txBody>
      </p:sp>
      <p:sp>
        <p:nvSpPr>
          <p:cNvPr id="858442018" name="Shape 12"/>
          <p:cNvSpPr/>
          <p:nvPr/>
        </p:nvSpPr>
        <p:spPr bwMode="auto">
          <a:xfrm>
            <a:off x="960120" y="469087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/>
        </p:spPr>
      </p:sp>
      <p:pic>
        <p:nvPicPr>
          <p:cNvPr id="106920720" name="Image 4" descr="/home/claude/traventure_ppt/icon_check_FFFFFF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42416" y="4773168"/>
            <a:ext cx="164592" cy="164592"/>
          </a:xfrm>
          <a:prstGeom prst="rect">
            <a:avLst/>
          </a:prstGeom>
        </p:spPr>
      </p:pic>
      <p:sp>
        <p:nvSpPr>
          <p:cNvPr id="1195513458" name="Text 13"/>
          <p:cNvSpPr/>
          <p:nvPr/>
        </p:nvSpPr>
        <p:spPr bwMode="auto">
          <a:xfrm>
            <a:off x="1417320" y="4663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Smart Travel Assistance</a:t>
            </a:r>
            <a:endParaRPr lang="en-US" sz="1400"/>
          </a:p>
        </p:txBody>
      </p:sp>
      <p:sp>
        <p:nvSpPr>
          <p:cNvPr id="503125824" name="Text 14"/>
          <p:cNvSpPr/>
          <p:nvPr/>
        </p:nvSpPr>
        <p:spPr bwMode="auto">
          <a:xfrm>
            <a:off x="960120" y="54406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15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Traventure sits at the intersection of TravelTech and applied AI — using a conversational assistant, not a search form, as the primary planning interface.</a:t>
            </a:r>
            <a:endParaRPr lang="en-US" sz="1150"/>
          </a:p>
        </p:txBody>
      </p:sp>
      <p:sp>
        <p:nvSpPr>
          <p:cNvPr id="1755275731" name="Text 15"/>
          <p:cNvSpPr/>
          <p:nvPr/>
        </p:nvSpPr>
        <p:spPr bwMode="auto">
          <a:xfrm>
            <a:off x="6035039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spc="1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TARGET USERS</a:t>
            </a:r>
            <a:endParaRPr lang="en-US" sz="1200"/>
          </a:p>
        </p:txBody>
      </p:sp>
      <p:sp>
        <p:nvSpPr>
          <p:cNvPr id="397723264" name="Shape 16"/>
          <p:cNvSpPr/>
          <p:nvPr/>
        </p:nvSpPr>
        <p:spPr bwMode="auto">
          <a:xfrm>
            <a:off x="6035039" y="2423160"/>
            <a:ext cx="2542032" cy="713232"/>
          </a:xfrm>
          <a:prstGeom prst="roundRect">
            <a:avLst>
              <a:gd name="adj" fmla="val 12821"/>
            </a:avLst>
          </a:prstGeom>
          <a:solidFill>
            <a:srgbClr val="F4F8FB"/>
          </a:solidFill>
          <a:ln/>
        </p:spPr>
      </p:sp>
      <p:sp>
        <p:nvSpPr>
          <p:cNvPr id="763233312" name="Shape 17"/>
          <p:cNvSpPr/>
          <p:nvPr/>
        </p:nvSpPr>
        <p:spPr bwMode="auto">
          <a:xfrm>
            <a:off x="6172200" y="2551176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41683977" name="Image 5" descr="/home/claude/traventure_ppt/icon_users_FFFFFF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231636" y="2610612"/>
            <a:ext cx="338328" cy="338328"/>
          </a:xfrm>
          <a:prstGeom prst="rect">
            <a:avLst/>
          </a:prstGeom>
        </p:spPr>
      </p:pic>
      <p:sp>
        <p:nvSpPr>
          <p:cNvPr id="1014219832" name="Text 18"/>
          <p:cNvSpPr/>
          <p:nvPr/>
        </p:nvSpPr>
        <p:spPr bwMode="auto">
          <a:xfrm>
            <a:off x="6720840" y="2423160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Solo travelers</a:t>
            </a:r>
            <a:endParaRPr lang="en-US" sz="1250"/>
          </a:p>
        </p:txBody>
      </p:sp>
      <p:sp>
        <p:nvSpPr>
          <p:cNvPr id="94419181" name="Shape 19"/>
          <p:cNvSpPr/>
          <p:nvPr/>
        </p:nvSpPr>
        <p:spPr bwMode="auto">
          <a:xfrm>
            <a:off x="8796528" y="2423160"/>
            <a:ext cx="2542032" cy="713232"/>
          </a:xfrm>
          <a:prstGeom prst="roundRect">
            <a:avLst>
              <a:gd name="adj" fmla="val 12821"/>
            </a:avLst>
          </a:prstGeom>
          <a:solidFill>
            <a:srgbClr val="F4F8FB"/>
          </a:solidFill>
          <a:ln/>
        </p:spPr>
      </p:sp>
      <p:sp>
        <p:nvSpPr>
          <p:cNvPr id="291386522" name="Shape 20"/>
          <p:cNvSpPr/>
          <p:nvPr/>
        </p:nvSpPr>
        <p:spPr bwMode="auto">
          <a:xfrm>
            <a:off x="8933688" y="2551176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68609202" name="Image 6" descr="/home/claude/traventure_ppt/icon_users_FFFFFF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993124" y="2610612"/>
            <a:ext cx="338328" cy="338328"/>
          </a:xfrm>
          <a:prstGeom prst="rect">
            <a:avLst/>
          </a:prstGeom>
        </p:spPr>
      </p:pic>
      <p:sp>
        <p:nvSpPr>
          <p:cNvPr id="261181419" name="Text 21"/>
          <p:cNvSpPr/>
          <p:nvPr/>
        </p:nvSpPr>
        <p:spPr bwMode="auto">
          <a:xfrm>
            <a:off x="9482328" y="2423160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Students</a:t>
            </a:r>
            <a:endParaRPr lang="en-US" sz="1250"/>
          </a:p>
        </p:txBody>
      </p:sp>
      <p:sp>
        <p:nvSpPr>
          <p:cNvPr id="887166366" name="Shape 22"/>
          <p:cNvSpPr/>
          <p:nvPr/>
        </p:nvSpPr>
        <p:spPr bwMode="auto">
          <a:xfrm>
            <a:off x="6035039" y="3337560"/>
            <a:ext cx="2542032" cy="713232"/>
          </a:xfrm>
          <a:prstGeom prst="roundRect">
            <a:avLst>
              <a:gd name="adj" fmla="val 12821"/>
            </a:avLst>
          </a:prstGeom>
          <a:solidFill>
            <a:srgbClr val="F4F8FB"/>
          </a:solidFill>
          <a:ln/>
        </p:spPr>
      </p:sp>
      <p:sp>
        <p:nvSpPr>
          <p:cNvPr id="1828388250" name="Shape 23"/>
          <p:cNvSpPr/>
          <p:nvPr/>
        </p:nvSpPr>
        <p:spPr bwMode="auto">
          <a:xfrm>
            <a:off x="6172200" y="3465576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23249635" name="Image 7" descr="/home/claude/traventure_ppt/icon_users_FFFFFF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231636" y="3525012"/>
            <a:ext cx="338328" cy="338328"/>
          </a:xfrm>
          <a:prstGeom prst="rect">
            <a:avLst/>
          </a:prstGeom>
        </p:spPr>
      </p:pic>
      <p:sp>
        <p:nvSpPr>
          <p:cNvPr id="2104439809" name="Text 24"/>
          <p:cNvSpPr/>
          <p:nvPr/>
        </p:nvSpPr>
        <p:spPr bwMode="auto">
          <a:xfrm>
            <a:off x="6720840" y="3337560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Families</a:t>
            </a:r>
            <a:endParaRPr lang="en-US" sz="1250"/>
          </a:p>
        </p:txBody>
      </p:sp>
      <p:sp>
        <p:nvSpPr>
          <p:cNvPr id="1753885289" name="Shape 25"/>
          <p:cNvSpPr/>
          <p:nvPr/>
        </p:nvSpPr>
        <p:spPr bwMode="auto">
          <a:xfrm>
            <a:off x="8796528" y="3337560"/>
            <a:ext cx="2542032" cy="713232"/>
          </a:xfrm>
          <a:prstGeom prst="roundRect">
            <a:avLst>
              <a:gd name="adj" fmla="val 12821"/>
            </a:avLst>
          </a:prstGeom>
          <a:solidFill>
            <a:srgbClr val="F4F8FB"/>
          </a:solidFill>
          <a:ln/>
        </p:spPr>
      </p:sp>
      <p:sp>
        <p:nvSpPr>
          <p:cNvPr id="661420814" name="Shape 26"/>
          <p:cNvSpPr/>
          <p:nvPr/>
        </p:nvSpPr>
        <p:spPr bwMode="auto">
          <a:xfrm>
            <a:off x="8933688" y="3465576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4363525" name="Image 8" descr="/home/claude/traventure_ppt/icon_users_FFFFFF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993124" y="3525012"/>
            <a:ext cx="338328" cy="338328"/>
          </a:xfrm>
          <a:prstGeom prst="rect">
            <a:avLst/>
          </a:prstGeom>
        </p:spPr>
      </p:pic>
      <p:sp>
        <p:nvSpPr>
          <p:cNvPr id="507040378" name="Text 27"/>
          <p:cNvSpPr/>
          <p:nvPr/>
        </p:nvSpPr>
        <p:spPr bwMode="auto">
          <a:xfrm>
            <a:off x="9482328" y="3337560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Tourists</a:t>
            </a:r>
            <a:endParaRPr lang="en-US" sz="1250"/>
          </a:p>
        </p:txBody>
      </p:sp>
      <p:sp>
        <p:nvSpPr>
          <p:cNvPr id="1265626266" name="Shape 28"/>
          <p:cNvSpPr/>
          <p:nvPr/>
        </p:nvSpPr>
        <p:spPr bwMode="auto">
          <a:xfrm>
            <a:off x="6035039" y="4251960"/>
            <a:ext cx="2542032" cy="713232"/>
          </a:xfrm>
          <a:prstGeom prst="roundRect">
            <a:avLst>
              <a:gd name="adj" fmla="val 12821"/>
            </a:avLst>
          </a:prstGeom>
          <a:solidFill>
            <a:srgbClr val="F4F8FB"/>
          </a:solidFill>
          <a:ln/>
        </p:spPr>
      </p:sp>
      <p:sp>
        <p:nvSpPr>
          <p:cNvPr id="1060561721" name="Shape 29"/>
          <p:cNvSpPr/>
          <p:nvPr/>
        </p:nvSpPr>
        <p:spPr bwMode="auto">
          <a:xfrm>
            <a:off x="6172200" y="4379976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400758854" name="Image 9" descr="/home/claude/traventure_ppt/icon_users_FFFFFF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231636" y="4439412"/>
            <a:ext cx="338328" cy="338328"/>
          </a:xfrm>
          <a:prstGeom prst="rect">
            <a:avLst/>
          </a:prstGeom>
        </p:spPr>
      </p:pic>
      <p:sp>
        <p:nvSpPr>
          <p:cNvPr id="17650501" name="Text 30"/>
          <p:cNvSpPr/>
          <p:nvPr/>
        </p:nvSpPr>
        <p:spPr bwMode="auto">
          <a:xfrm>
            <a:off x="6720840" y="4251960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Backpackers</a:t>
            </a:r>
            <a:endParaRPr lang="en-US" sz="1250"/>
          </a:p>
        </p:txBody>
      </p:sp>
      <p:sp>
        <p:nvSpPr>
          <p:cNvPr id="1520121371" name="Shape 31"/>
          <p:cNvSpPr/>
          <p:nvPr/>
        </p:nvSpPr>
        <p:spPr bwMode="auto">
          <a:xfrm>
            <a:off x="8796528" y="4251960"/>
            <a:ext cx="2542032" cy="713232"/>
          </a:xfrm>
          <a:prstGeom prst="roundRect">
            <a:avLst>
              <a:gd name="adj" fmla="val 12821"/>
            </a:avLst>
          </a:prstGeom>
          <a:solidFill>
            <a:srgbClr val="F4F8FB"/>
          </a:solidFill>
          <a:ln/>
        </p:spPr>
      </p:sp>
      <p:sp>
        <p:nvSpPr>
          <p:cNvPr id="954015769" name="Shape 32"/>
          <p:cNvSpPr/>
          <p:nvPr/>
        </p:nvSpPr>
        <p:spPr bwMode="auto">
          <a:xfrm>
            <a:off x="8933688" y="4379976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479755214" name="Image 10" descr="/home/claude/traventure_ppt/icon_users_FFFFFF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993124" y="4439412"/>
            <a:ext cx="338328" cy="338328"/>
          </a:xfrm>
          <a:prstGeom prst="rect">
            <a:avLst/>
          </a:prstGeom>
        </p:spPr>
      </p:pic>
      <p:sp>
        <p:nvSpPr>
          <p:cNvPr id="285905885" name="Text 33"/>
          <p:cNvSpPr/>
          <p:nvPr/>
        </p:nvSpPr>
        <p:spPr bwMode="auto">
          <a:xfrm>
            <a:off x="9482328" y="4251960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Vacation planners</a:t>
            </a:r>
            <a:endParaRPr lang="en-US" sz="1250"/>
          </a:p>
        </p:txBody>
      </p:sp>
      <p:sp>
        <p:nvSpPr>
          <p:cNvPr id="521628761" name="Shape 34"/>
          <p:cNvSpPr/>
          <p:nvPr/>
        </p:nvSpPr>
        <p:spPr bwMode="auto">
          <a:xfrm>
            <a:off x="6035039" y="5166360"/>
            <a:ext cx="2542032" cy="713232"/>
          </a:xfrm>
          <a:prstGeom prst="roundRect">
            <a:avLst>
              <a:gd name="adj" fmla="val 12821"/>
            </a:avLst>
          </a:prstGeom>
          <a:solidFill>
            <a:srgbClr val="F4F8FB"/>
          </a:solidFill>
          <a:ln/>
        </p:spPr>
      </p:sp>
      <p:sp>
        <p:nvSpPr>
          <p:cNvPr id="1257880103" name="Shape 35"/>
          <p:cNvSpPr/>
          <p:nvPr/>
        </p:nvSpPr>
        <p:spPr bwMode="auto">
          <a:xfrm>
            <a:off x="6172200" y="5294376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116145635" name="Image 11" descr="/home/claude/traventure_ppt/icon_users_FFFFFF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231636" y="5353812"/>
            <a:ext cx="338328" cy="338328"/>
          </a:xfrm>
          <a:prstGeom prst="rect">
            <a:avLst/>
          </a:prstGeom>
        </p:spPr>
      </p:pic>
      <p:sp>
        <p:nvSpPr>
          <p:cNvPr id="1408003571" name="Text 36"/>
          <p:cNvSpPr/>
          <p:nvPr/>
        </p:nvSpPr>
        <p:spPr bwMode="auto">
          <a:xfrm>
            <a:off x="6720840" y="5166360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First-time travelers</a:t>
            </a:r>
            <a:endParaRPr lang="en-US" sz="1250"/>
          </a:p>
        </p:txBody>
      </p:sp>
      <p:sp>
        <p:nvSpPr>
          <p:cNvPr id="1307501091" name="Shape 37"/>
          <p:cNvSpPr/>
          <p:nvPr/>
        </p:nvSpPr>
        <p:spPr bwMode="auto">
          <a:xfrm>
            <a:off x="8796528" y="5166360"/>
            <a:ext cx="2542032" cy="713232"/>
          </a:xfrm>
          <a:prstGeom prst="roundRect">
            <a:avLst>
              <a:gd name="adj" fmla="val 12821"/>
            </a:avLst>
          </a:prstGeom>
          <a:solidFill>
            <a:srgbClr val="F4F8FB"/>
          </a:solidFill>
          <a:ln/>
        </p:spPr>
      </p:sp>
      <p:sp>
        <p:nvSpPr>
          <p:cNvPr id="2011215417" name="Shape 38"/>
          <p:cNvSpPr/>
          <p:nvPr/>
        </p:nvSpPr>
        <p:spPr bwMode="auto">
          <a:xfrm>
            <a:off x="8933688" y="5294376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622866717" name="Image 12" descr="/home/claude/traventure_ppt/icon_users_FFFFFF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993124" y="5353812"/>
            <a:ext cx="338328" cy="338328"/>
          </a:xfrm>
          <a:prstGeom prst="rect">
            <a:avLst/>
          </a:prstGeom>
        </p:spPr>
      </p:pic>
      <p:sp>
        <p:nvSpPr>
          <p:cNvPr id="231265842" name="Text 39"/>
          <p:cNvSpPr/>
          <p:nvPr/>
        </p:nvSpPr>
        <p:spPr bwMode="auto">
          <a:xfrm>
            <a:off x="9482328" y="5166360"/>
            <a:ext cx="1719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Frequent travelers</a:t>
            </a:r>
            <a:endParaRPr lang="en-US" sz="1250"/>
          </a:p>
        </p:txBody>
      </p:sp>
      <p:sp>
        <p:nvSpPr>
          <p:cNvPr id="912281730" name="Text 40"/>
          <p:cNvSpPr/>
          <p:nvPr/>
        </p:nvSpPr>
        <p:spPr bwMode="auto">
          <a:xfrm>
            <a:off x="457200" y="635022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 spc="200">
                <a:solidFill>
                  <a:srgbClr val="A9B4C7"/>
                </a:solidFill>
                <a:latin typeface="Calibri"/>
                <a:ea typeface="Calibri"/>
                <a:cs typeface="Calibri"/>
              </a:rPr>
              <a:t>TRAVENTURE</a:t>
            </a:r>
            <a:endParaRPr lang="en-US" sz="900"/>
          </a:p>
        </p:txBody>
      </p:sp>
      <p:sp>
        <p:nvSpPr>
          <p:cNvPr id="1102011410" name="Text 41"/>
          <p:cNvSpPr/>
          <p:nvPr/>
        </p:nvSpPr>
        <p:spPr bwMode="auto"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A9B4C7"/>
                </a:solidFill>
                <a:latin typeface="Calibri"/>
                <a:ea typeface="Calibri"/>
                <a:cs typeface="Calibri"/>
              </a:rPr>
              <a:t>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599140" name="Text 0"/>
          <p:cNvSpPr/>
          <p:nvPr/>
        </p:nvSpPr>
        <p:spPr bwMode="auto"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FF6B4A"/>
                </a:solidFill>
                <a:latin typeface="Calibri"/>
                <a:ea typeface="Calibri"/>
                <a:cs typeface="Calibri"/>
              </a:rPr>
              <a:t>UNDER THE HOOD</a:t>
            </a:r>
            <a:endParaRPr lang="en-US" sz="1300"/>
          </a:p>
        </p:txBody>
      </p:sp>
      <p:sp>
        <p:nvSpPr>
          <p:cNvPr id="290382203" name="Text 1"/>
          <p:cNvSpPr/>
          <p:nvPr/>
        </p:nvSpPr>
        <p:spPr bwMode="auto"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Tech stack &amp; high-level architecture</a:t>
            </a:r>
            <a:endParaRPr lang="en-US" sz="2800"/>
          </a:p>
        </p:txBody>
      </p:sp>
      <p:sp>
        <p:nvSpPr>
          <p:cNvPr id="1889158441" name="Text 2"/>
          <p:cNvSpPr/>
          <p:nvPr/>
        </p:nvSpPr>
        <p:spPr bwMode="auto">
          <a:xfrm>
            <a:off x="640080" y="1783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BUILT NOW</a:t>
            </a:r>
            <a:endParaRPr lang="en-US" sz="1200"/>
          </a:p>
        </p:txBody>
      </p:sp>
      <p:sp>
        <p:nvSpPr>
          <p:cNvPr id="1941140377" name="Shape 3"/>
          <p:cNvSpPr/>
          <p:nvPr/>
        </p:nvSpPr>
        <p:spPr bwMode="auto">
          <a:xfrm>
            <a:off x="640080" y="2167128"/>
            <a:ext cx="4160519" cy="512064"/>
          </a:xfrm>
          <a:prstGeom prst="roundRect">
            <a:avLst>
              <a:gd name="adj" fmla="val 14286"/>
            </a:avLst>
          </a:prstGeom>
          <a:solidFill>
            <a:srgbClr val="F4F8FB"/>
          </a:solidFill>
          <a:ln/>
        </p:spPr>
      </p:sp>
      <p:sp>
        <p:nvSpPr>
          <p:cNvPr id="955810688" name="Text 4"/>
          <p:cNvSpPr/>
          <p:nvPr/>
        </p:nvSpPr>
        <p:spPr bwMode="auto">
          <a:xfrm>
            <a:off x="804672" y="2167128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React</a:t>
            </a:r>
            <a:endParaRPr lang="en-US" sz="1300"/>
          </a:p>
        </p:txBody>
      </p:sp>
      <p:sp>
        <p:nvSpPr>
          <p:cNvPr id="2025019233" name="Text 5"/>
          <p:cNvSpPr/>
          <p:nvPr/>
        </p:nvSpPr>
        <p:spPr bwMode="auto">
          <a:xfrm>
            <a:off x="2377440" y="2167128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Frontend framework</a:t>
            </a:r>
            <a:endParaRPr lang="en-US" sz="1050"/>
          </a:p>
        </p:txBody>
      </p:sp>
      <p:sp>
        <p:nvSpPr>
          <p:cNvPr id="1407880685" name="Shape 6"/>
          <p:cNvSpPr/>
          <p:nvPr/>
        </p:nvSpPr>
        <p:spPr bwMode="auto">
          <a:xfrm>
            <a:off x="640080" y="2770632"/>
            <a:ext cx="4160519" cy="512064"/>
          </a:xfrm>
          <a:prstGeom prst="roundRect">
            <a:avLst>
              <a:gd name="adj" fmla="val 14286"/>
            </a:avLst>
          </a:prstGeom>
          <a:solidFill>
            <a:srgbClr val="F4F8FB"/>
          </a:solidFill>
          <a:ln/>
        </p:spPr>
      </p:sp>
      <p:sp>
        <p:nvSpPr>
          <p:cNvPr id="587234305" name="Text 7"/>
          <p:cNvSpPr/>
          <p:nvPr/>
        </p:nvSpPr>
        <p:spPr bwMode="auto">
          <a:xfrm>
            <a:off x="804672" y="2770632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Vite</a:t>
            </a:r>
            <a:endParaRPr lang="en-US" sz="1300"/>
          </a:p>
        </p:txBody>
      </p:sp>
      <p:sp>
        <p:nvSpPr>
          <p:cNvPr id="637650326" name="Text 8"/>
          <p:cNvSpPr/>
          <p:nvPr/>
        </p:nvSpPr>
        <p:spPr bwMode="auto">
          <a:xfrm>
            <a:off x="2377440" y="2770632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Build tool</a:t>
            </a:r>
            <a:endParaRPr lang="en-US" sz="1050"/>
          </a:p>
        </p:txBody>
      </p:sp>
      <p:sp>
        <p:nvSpPr>
          <p:cNvPr id="1738044310" name="Shape 9"/>
          <p:cNvSpPr/>
          <p:nvPr/>
        </p:nvSpPr>
        <p:spPr bwMode="auto">
          <a:xfrm>
            <a:off x="640080" y="3374136"/>
            <a:ext cx="4160519" cy="512064"/>
          </a:xfrm>
          <a:prstGeom prst="roundRect">
            <a:avLst>
              <a:gd name="adj" fmla="val 14286"/>
            </a:avLst>
          </a:prstGeom>
          <a:solidFill>
            <a:srgbClr val="F4F8FB"/>
          </a:solidFill>
          <a:ln/>
        </p:spPr>
      </p:sp>
      <p:sp>
        <p:nvSpPr>
          <p:cNvPr id="734780056" name="Text 10"/>
          <p:cNvSpPr/>
          <p:nvPr/>
        </p:nvSpPr>
        <p:spPr bwMode="auto">
          <a:xfrm>
            <a:off x="804672" y="3374136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JavaScript</a:t>
            </a:r>
            <a:endParaRPr lang="en-US" sz="1300"/>
          </a:p>
        </p:txBody>
      </p:sp>
      <p:sp>
        <p:nvSpPr>
          <p:cNvPr id="642144333" name="Text 11"/>
          <p:cNvSpPr/>
          <p:nvPr/>
        </p:nvSpPr>
        <p:spPr bwMode="auto">
          <a:xfrm>
            <a:off x="2377440" y="3374136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Core language</a:t>
            </a:r>
            <a:endParaRPr lang="en-US" sz="1050"/>
          </a:p>
        </p:txBody>
      </p:sp>
      <p:sp>
        <p:nvSpPr>
          <p:cNvPr id="1554918648" name="Shape 12"/>
          <p:cNvSpPr/>
          <p:nvPr/>
        </p:nvSpPr>
        <p:spPr bwMode="auto">
          <a:xfrm>
            <a:off x="640080" y="3977640"/>
            <a:ext cx="4160519" cy="512064"/>
          </a:xfrm>
          <a:prstGeom prst="roundRect">
            <a:avLst>
              <a:gd name="adj" fmla="val 14286"/>
            </a:avLst>
          </a:prstGeom>
          <a:solidFill>
            <a:srgbClr val="F4F8FB"/>
          </a:solidFill>
          <a:ln/>
        </p:spPr>
      </p:sp>
      <p:sp>
        <p:nvSpPr>
          <p:cNvPr id="1721233281" name="Text 13"/>
          <p:cNvSpPr/>
          <p:nvPr/>
        </p:nvSpPr>
        <p:spPr bwMode="auto">
          <a:xfrm>
            <a:off x="804672" y="3977640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CSS</a:t>
            </a:r>
            <a:endParaRPr lang="en-US" sz="1300"/>
          </a:p>
        </p:txBody>
      </p:sp>
      <p:sp>
        <p:nvSpPr>
          <p:cNvPr id="1120175138" name="Text 14"/>
          <p:cNvSpPr/>
          <p:nvPr/>
        </p:nvSpPr>
        <p:spPr bwMode="auto">
          <a:xfrm>
            <a:off x="2377440" y="3977640"/>
            <a:ext cx="2331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Custom styling</a:t>
            </a:r>
            <a:endParaRPr lang="en-US" sz="1050"/>
          </a:p>
        </p:txBody>
      </p:sp>
      <p:sp>
        <p:nvSpPr>
          <p:cNvPr id="717417704" name="Text 15"/>
          <p:cNvSpPr/>
          <p:nvPr/>
        </p:nvSpPr>
        <p:spPr bwMode="auto">
          <a:xfrm>
            <a:off x="640080" y="467258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6B4A"/>
                </a:solidFill>
                <a:latin typeface="Calibri"/>
                <a:ea typeface="Calibri"/>
                <a:cs typeface="Calibri"/>
              </a:rPr>
              <a:t>PLANNED</a:t>
            </a:r>
            <a:endParaRPr lang="en-US" sz="1200"/>
          </a:p>
        </p:txBody>
      </p:sp>
      <p:sp>
        <p:nvSpPr>
          <p:cNvPr id="750682624" name="Shape 16"/>
          <p:cNvSpPr/>
          <p:nvPr/>
        </p:nvSpPr>
        <p:spPr bwMode="auto">
          <a:xfrm>
            <a:off x="658368" y="5138928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67126488" name="Text 17"/>
          <p:cNvSpPr/>
          <p:nvPr/>
        </p:nvSpPr>
        <p:spPr bwMode="auto">
          <a:xfrm>
            <a:off x="868680" y="500176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Node.js + Express (backend)</a:t>
            </a:r>
            <a:endParaRPr lang="en-US" sz="1150"/>
          </a:p>
        </p:txBody>
      </p:sp>
      <p:sp>
        <p:nvSpPr>
          <p:cNvPr id="1825133779" name="Shape 18"/>
          <p:cNvSpPr/>
          <p:nvPr/>
        </p:nvSpPr>
        <p:spPr bwMode="auto">
          <a:xfrm>
            <a:off x="658368" y="5468112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085183781" name="Text 19"/>
          <p:cNvSpPr/>
          <p:nvPr/>
        </p:nvSpPr>
        <p:spPr bwMode="auto">
          <a:xfrm>
            <a:off x="868680" y="533095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MongoDB Atlas (database)</a:t>
            </a:r>
            <a:endParaRPr lang="en-US" sz="1150"/>
          </a:p>
        </p:txBody>
      </p:sp>
      <p:sp>
        <p:nvSpPr>
          <p:cNvPr id="1536400284" name="Shape 20"/>
          <p:cNvSpPr/>
          <p:nvPr/>
        </p:nvSpPr>
        <p:spPr bwMode="auto">
          <a:xfrm>
            <a:off x="658368" y="5797296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61275197" name="Text 21"/>
          <p:cNvSpPr/>
          <p:nvPr/>
        </p:nvSpPr>
        <p:spPr bwMode="auto">
          <a:xfrm>
            <a:off x="868680" y="566013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Open-Meteo API (weather)</a:t>
            </a:r>
            <a:endParaRPr lang="en-US" sz="1150"/>
          </a:p>
        </p:txBody>
      </p:sp>
      <p:sp>
        <p:nvSpPr>
          <p:cNvPr id="1330769829" name="Shape 22"/>
          <p:cNvSpPr/>
          <p:nvPr/>
        </p:nvSpPr>
        <p:spPr bwMode="auto">
          <a:xfrm>
            <a:off x="658368" y="6126480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409470216" name="Text 23"/>
          <p:cNvSpPr/>
          <p:nvPr/>
        </p:nvSpPr>
        <p:spPr bwMode="auto">
          <a:xfrm>
            <a:off x="868680" y="598932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OpenStreetMap / Overpass (places)</a:t>
            </a:r>
            <a:endParaRPr lang="en-US" sz="1150"/>
          </a:p>
        </p:txBody>
      </p:sp>
      <p:sp>
        <p:nvSpPr>
          <p:cNvPr id="1770451783" name="Text 24"/>
          <p:cNvSpPr/>
          <p:nvPr/>
        </p:nvSpPr>
        <p:spPr bwMode="auto">
          <a:xfrm>
            <a:off x="5257800" y="17830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HIGH-LEVEL ARCHITECTURE</a:t>
            </a:r>
            <a:endParaRPr lang="en-US" sz="1200"/>
          </a:p>
        </p:txBody>
      </p:sp>
      <p:sp>
        <p:nvSpPr>
          <p:cNvPr id="223214605" name="Shape 25"/>
          <p:cNvSpPr/>
          <p:nvPr/>
        </p:nvSpPr>
        <p:spPr bwMode="auto">
          <a:xfrm>
            <a:off x="7086600" y="224028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  <a:effectLst>
            <a:outerShdw blurRad="63500" dist="25400" dir="5400000" sx="100000" sy="100000" kx="0" ky="0" algn="bl" rotWithShape="0">
              <a:srgbClr val="9AAED0">
                <a:alpha val="30000"/>
              </a:srgbClr>
            </a:outerShdw>
          </a:effectLst>
        </p:spPr>
      </p:sp>
      <p:sp>
        <p:nvSpPr>
          <p:cNvPr id="322806715" name="Text 26"/>
          <p:cNvSpPr/>
          <p:nvPr/>
        </p:nvSpPr>
        <p:spPr bwMode="auto">
          <a:xfrm>
            <a:off x="7086600" y="2240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</a:t>
            </a:r>
            <a:endParaRPr lang="en-US" sz="1300"/>
          </a:p>
        </p:txBody>
      </p:sp>
      <p:sp>
        <p:nvSpPr>
          <p:cNvPr id="1260854930" name="Shape 27"/>
          <p:cNvSpPr/>
          <p:nvPr/>
        </p:nvSpPr>
        <p:spPr bwMode="auto">
          <a:xfrm>
            <a:off x="8366760" y="2743200"/>
            <a:ext cx="0" cy="32004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1709209069" name="Shape 28"/>
          <p:cNvSpPr/>
          <p:nvPr/>
        </p:nvSpPr>
        <p:spPr bwMode="auto">
          <a:xfrm>
            <a:off x="6537960" y="310896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  <a:effectLst>
            <a:outerShdw blurRad="63500" dist="25400" dir="5400000" sx="100000" sy="100000" kx="0" ky="0" algn="bl" rotWithShape="0">
              <a:srgbClr val="9AAED0">
                <a:alpha val="30000"/>
              </a:srgbClr>
            </a:outerShdw>
          </a:effectLst>
        </p:spPr>
      </p:sp>
      <p:sp>
        <p:nvSpPr>
          <p:cNvPr id="385902118" name="Text 29"/>
          <p:cNvSpPr/>
          <p:nvPr/>
        </p:nvSpPr>
        <p:spPr bwMode="auto">
          <a:xfrm flipH="0" flipV="0">
            <a:off x="6537960" y="318211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React + Vite Frontend</a:t>
            </a:r>
            <a:endParaRPr lang="en-US" sz="1300"/>
          </a:p>
        </p:txBody>
      </p:sp>
      <p:sp>
        <p:nvSpPr>
          <p:cNvPr id="1163004046" name="Text 30"/>
          <p:cNvSpPr/>
          <p:nvPr/>
        </p:nvSpPr>
        <p:spPr bwMode="auto">
          <a:xfrm rot="0" flipH="0" flipV="0">
            <a:off x="6537960" y="3383279"/>
            <a:ext cx="3657600" cy="274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D8E4F5"/>
                </a:solidFill>
                <a:latin typeface="Calibri"/>
                <a:ea typeface="Calibri"/>
                <a:cs typeface="Calibri"/>
              </a:rPr>
              <a:t>Deployed on Render</a:t>
            </a:r>
            <a:endParaRPr lang="en-US" sz="950"/>
          </a:p>
        </p:txBody>
      </p:sp>
      <p:sp>
        <p:nvSpPr>
          <p:cNvPr id="1876701452" name="Shape 31"/>
          <p:cNvSpPr/>
          <p:nvPr/>
        </p:nvSpPr>
        <p:spPr bwMode="auto">
          <a:xfrm>
            <a:off x="8366760" y="3657600"/>
            <a:ext cx="0" cy="32004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660913721" name="Shape 32"/>
          <p:cNvSpPr/>
          <p:nvPr/>
        </p:nvSpPr>
        <p:spPr bwMode="auto">
          <a:xfrm>
            <a:off x="6080760" y="402336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21295C"/>
          </a:solidFill>
          <a:ln/>
          <a:effectLst>
            <a:outerShdw blurRad="63500" dist="25400" dir="5400000" sx="100000" sy="100000" kx="0" ky="0" algn="bl" rotWithShape="0">
              <a:srgbClr val="9AAED0">
                <a:alpha val="30000"/>
              </a:srgbClr>
            </a:outerShdw>
          </a:effectLst>
        </p:spPr>
      </p:sp>
      <p:sp>
        <p:nvSpPr>
          <p:cNvPr id="1801886587" name="Text 33"/>
          <p:cNvSpPr/>
          <p:nvPr/>
        </p:nvSpPr>
        <p:spPr bwMode="auto">
          <a:xfrm>
            <a:off x="6080760" y="40965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Node.js + Express Backend</a:t>
            </a:r>
            <a:endParaRPr lang="en-US" sz="1300"/>
          </a:p>
        </p:txBody>
      </p:sp>
      <p:sp>
        <p:nvSpPr>
          <p:cNvPr id="1386879428" name="Text 34"/>
          <p:cNvSpPr/>
          <p:nvPr/>
        </p:nvSpPr>
        <p:spPr bwMode="auto">
          <a:xfrm flipH="0" flipV="0">
            <a:off x="6080759" y="4360333"/>
            <a:ext cx="4572000" cy="2116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D8E4F5"/>
                </a:solidFill>
                <a:latin typeface="Calibri"/>
                <a:ea typeface="Calibri"/>
                <a:cs typeface="Calibri"/>
              </a:rPr>
              <a:t>Planned</a:t>
            </a:r>
            <a:endParaRPr lang="en-US" sz="950"/>
          </a:p>
        </p:txBody>
      </p:sp>
      <p:sp>
        <p:nvSpPr>
          <p:cNvPr id="610007673" name="Shape 35"/>
          <p:cNvSpPr/>
          <p:nvPr/>
        </p:nvSpPr>
        <p:spPr bwMode="auto">
          <a:xfrm>
            <a:off x="7452360" y="4572000"/>
            <a:ext cx="0" cy="36576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1527787642" name="Shape 36"/>
          <p:cNvSpPr/>
          <p:nvPr/>
        </p:nvSpPr>
        <p:spPr bwMode="auto">
          <a:xfrm>
            <a:off x="9281160" y="4572000"/>
            <a:ext cx="822960" cy="36576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1031131201" name="Shape 37"/>
          <p:cNvSpPr/>
          <p:nvPr/>
        </p:nvSpPr>
        <p:spPr bwMode="auto">
          <a:xfrm>
            <a:off x="5349240" y="498348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  <a:effectLst>
            <a:outerShdw blurRad="63500" dist="25400" dir="5400000" sx="100000" sy="100000" kx="0" ky="0" algn="bl" rotWithShape="0">
              <a:srgbClr val="9AAED0">
                <a:alpha val="30000"/>
              </a:srgbClr>
            </a:outerShdw>
          </a:effectLst>
        </p:spPr>
      </p:sp>
      <p:sp>
        <p:nvSpPr>
          <p:cNvPr id="1327231924" name="Text 38"/>
          <p:cNvSpPr/>
          <p:nvPr/>
        </p:nvSpPr>
        <p:spPr bwMode="auto">
          <a:xfrm>
            <a:off x="5349240" y="5056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MongoDB</a:t>
            </a:r>
            <a:endParaRPr lang="en-US" sz="1300"/>
          </a:p>
        </p:txBody>
      </p:sp>
      <p:sp>
        <p:nvSpPr>
          <p:cNvPr id="1214108132" name="Text 39"/>
          <p:cNvSpPr/>
          <p:nvPr/>
        </p:nvSpPr>
        <p:spPr bwMode="auto">
          <a:xfrm flipH="0" flipV="0">
            <a:off x="5349240" y="5294375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D8E4F5"/>
                </a:solidFill>
                <a:latin typeface="Calibri"/>
                <a:ea typeface="Calibri"/>
                <a:cs typeface="Calibri"/>
              </a:rPr>
              <a:t>Database · Planned</a:t>
            </a:r>
            <a:endParaRPr lang="en-US" sz="950"/>
          </a:p>
        </p:txBody>
      </p:sp>
      <p:sp>
        <p:nvSpPr>
          <p:cNvPr id="186809470" name="Shape 40"/>
          <p:cNvSpPr/>
          <p:nvPr/>
        </p:nvSpPr>
        <p:spPr bwMode="auto">
          <a:xfrm>
            <a:off x="8823960" y="498348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  <a:effectLst>
            <a:outerShdw blurRad="63500" dist="25400" dir="5400000" sx="100000" sy="100000" kx="0" ky="0" algn="bl" rotWithShape="0">
              <a:srgbClr val="9AAED0">
                <a:alpha val="30000"/>
              </a:srgbClr>
            </a:outerShdw>
          </a:effectLst>
        </p:spPr>
      </p:sp>
      <p:sp>
        <p:nvSpPr>
          <p:cNvPr id="1963073301" name="Text 41"/>
          <p:cNvSpPr/>
          <p:nvPr/>
        </p:nvSpPr>
        <p:spPr bwMode="auto">
          <a:xfrm>
            <a:off x="8823960" y="50566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External APIs</a:t>
            </a:r>
            <a:endParaRPr lang="en-US" sz="1300"/>
          </a:p>
        </p:txBody>
      </p:sp>
      <p:sp>
        <p:nvSpPr>
          <p:cNvPr id="2107400718" name="Text 42"/>
          <p:cNvSpPr/>
          <p:nvPr/>
        </p:nvSpPr>
        <p:spPr bwMode="auto">
          <a:xfrm flipH="0" flipV="0">
            <a:off x="8823960" y="5294375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D8E4F5"/>
                </a:solidFill>
                <a:latin typeface="Calibri"/>
                <a:ea typeface="Calibri"/>
                <a:cs typeface="Calibri"/>
              </a:rPr>
              <a:t>Weather · Maps · Places · AI</a:t>
            </a:r>
            <a:endParaRPr lang="en-US" sz="950"/>
          </a:p>
        </p:txBody>
      </p:sp>
      <p:sp>
        <p:nvSpPr>
          <p:cNvPr id="760933427" name="Text 43"/>
          <p:cNvSpPr/>
          <p:nvPr/>
        </p:nvSpPr>
        <p:spPr bwMode="auto">
          <a:xfrm>
            <a:off x="457200" y="63321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 spc="200">
                <a:solidFill>
                  <a:srgbClr val="A9B4C7"/>
                </a:solidFill>
                <a:latin typeface="Calibri"/>
                <a:ea typeface="Calibri"/>
                <a:cs typeface="Calibri"/>
              </a:rPr>
              <a:t>TRAVENTURE</a:t>
            </a:r>
            <a:endParaRPr lang="en-US" sz="900"/>
          </a:p>
        </p:txBody>
      </p:sp>
      <p:sp>
        <p:nvSpPr>
          <p:cNvPr id="655981895" name="Text 44"/>
          <p:cNvSpPr/>
          <p:nvPr/>
        </p:nvSpPr>
        <p:spPr bwMode="auto"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A9B4C7"/>
                </a:solidFill>
                <a:latin typeface="Calibri"/>
                <a:ea typeface="Calibri"/>
                <a:cs typeface="Calibri"/>
              </a:rPr>
              <a:t>7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772847" name="TextBox 1"/>
          <p:cNvSpPr txBox="1"/>
          <p:nvPr/>
        </p:nvSpPr>
        <p:spPr bwMode="auto"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300" b="1" i="0" spc="200">
                <a:solidFill>
                  <a:srgbClr val="FF6B4A"/>
                </a:solidFill>
                <a:latin typeface="Calibri"/>
              </a:rPr>
              <a:t>THE PAYOFF</a:t>
            </a:r>
            <a:endParaRPr/>
          </a:p>
        </p:txBody>
      </p:sp>
      <p:sp>
        <p:nvSpPr>
          <p:cNvPr id="79853819" name="TextBox 2"/>
          <p:cNvSpPr txBox="1"/>
          <p:nvPr/>
        </p:nvSpPr>
        <p:spPr bwMode="auto">
          <a:xfrm>
            <a:off x="640080" y="77724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21295C"/>
                </a:solidFill>
                <a:latin typeface="Cambria"/>
              </a:rPr>
              <a:t>From hours of tab-switching to one focused session</a:t>
            </a:r>
            <a:endParaRPr/>
          </a:p>
        </p:txBody>
      </p:sp>
      <p:sp>
        <p:nvSpPr>
          <p:cNvPr id="1090634426" name="TextBox 3"/>
          <p:cNvSpPr txBox="1"/>
          <p:nvPr/>
        </p:nvSpPr>
        <p:spPr bwMode="auto">
          <a:xfrm flipH="0" flipV="0">
            <a:off x="640079" y="1631376"/>
            <a:ext cx="10600719" cy="198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5A6B85"/>
                </a:solidFill>
                <a:latin typeface="Calibri"/>
              </a:rPr>
              <a:t>Independent travel-industry research shows how much time typical planning takes — and why one AI conversation changes that math.</a:t>
            </a:r>
            <a:endParaRPr/>
          </a:p>
        </p:txBody>
      </p:sp>
      <p:sp>
        <p:nvSpPr>
          <p:cNvPr id="1377389962" name="Rounded Rectangle 4"/>
          <p:cNvSpPr/>
          <p:nvPr/>
        </p:nvSpPr>
        <p:spPr bwMode="auto">
          <a:xfrm>
            <a:off x="640080" y="1980000"/>
            <a:ext cx="5238360" cy="1950000"/>
          </a:xfrm>
          <a:prstGeom prst="roundRect">
            <a:avLst>
              <a:gd name="adj" fmla="val 5128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130623" name="Rounded Rectangle 5"/>
          <p:cNvSpPr/>
          <p:nvPr/>
        </p:nvSpPr>
        <p:spPr bwMode="auto">
          <a:xfrm>
            <a:off x="6118440" y="1980000"/>
            <a:ext cx="5238360" cy="1950000"/>
          </a:xfrm>
          <a:prstGeom prst="roundRect">
            <a:avLst>
              <a:gd name="adj" fmla="val 5128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683245" name="TextBox 6"/>
          <p:cNvSpPr txBox="1"/>
          <p:nvPr/>
        </p:nvSpPr>
        <p:spPr bwMode="auto">
          <a:xfrm>
            <a:off x="920079" y="2180000"/>
            <a:ext cx="467836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50" b="1" i="0" spc="150">
                <a:solidFill>
                  <a:srgbClr val="FF6B4A"/>
                </a:solidFill>
                <a:latin typeface="Calibri"/>
              </a:rPr>
              <a:t>THE OLD WAY</a:t>
            </a:r>
            <a:endParaRPr/>
          </a:p>
        </p:txBody>
      </p:sp>
      <p:sp>
        <p:nvSpPr>
          <p:cNvPr id="130974300" name="TextBox 7"/>
          <p:cNvSpPr txBox="1"/>
          <p:nvPr/>
        </p:nvSpPr>
        <p:spPr bwMode="auto">
          <a:xfrm>
            <a:off x="920079" y="2460000"/>
            <a:ext cx="4678360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4000" b="1" i="0">
                <a:solidFill>
                  <a:srgbClr val="21295C"/>
                </a:solidFill>
                <a:latin typeface="Cambria"/>
              </a:rPr>
              <a:t>10–18 hrs</a:t>
            </a:r>
            <a:endParaRPr/>
          </a:p>
        </p:txBody>
      </p:sp>
      <p:sp>
        <p:nvSpPr>
          <p:cNvPr id="1480382599" name="TextBox 8"/>
          <p:cNvSpPr txBox="1"/>
          <p:nvPr/>
        </p:nvSpPr>
        <p:spPr bwMode="auto">
          <a:xfrm>
            <a:off x="920079" y="3200000"/>
            <a:ext cx="4678360" cy="6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950" b="0" i="0">
                <a:solidFill>
                  <a:srgbClr val="5A6B85"/>
                </a:solidFill>
                <a:latin typeface="Calibri"/>
              </a:rPr>
              <a:t>Average time travelers spend researching and booking a trip across multiple sites and apps (Priceline/Harris Poll and GoCity/Talker Research surveys).</a:t>
            </a:r>
            <a:endParaRPr/>
          </a:p>
        </p:txBody>
      </p:sp>
      <p:sp>
        <p:nvSpPr>
          <p:cNvPr id="325024944" name="TextBox 9"/>
          <p:cNvSpPr txBox="1"/>
          <p:nvPr/>
        </p:nvSpPr>
        <p:spPr bwMode="auto">
          <a:xfrm>
            <a:off x="6398440" y="2180000"/>
            <a:ext cx="467836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150" b="1" i="0" spc="150">
                <a:solidFill>
                  <a:srgbClr val="1C7293"/>
                </a:solidFill>
                <a:latin typeface="Calibri"/>
              </a:rPr>
              <a:t>WITH TRAVENTURE</a:t>
            </a:r>
            <a:endParaRPr/>
          </a:p>
        </p:txBody>
      </p:sp>
      <p:sp>
        <p:nvSpPr>
          <p:cNvPr id="623824745" name="TextBox 10"/>
          <p:cNvSpPr txBox="1"/>
          <p:nvPr/>
        </p:nvSpPr>
        <p:spPr bwMode="auto">
          <a:xfrm>
            <a:off x="6398440" y="2460000"/>
            <a:ext cx="4678360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4000" b="1" i="0">
                <a:solidFill>
                  <a:srgbClr val="21295C"/>
                </a:solidFill>
                <a:latin typeface="Cambria"/>
              </a:rPr>
              <a:t>20–45 min</a:t>
            </a:r>
            <a:endParaRPr/>
          </a:p>
        </p:txBody>
      </p:sp>
      <p:sp>
        <p:nvSpPr>
          <p:cNvPr id="832419411" name="TextBox 11"/>
          <p:cNvSpPr txBox="1"/>
          <p:nvPr/>
        </p:nvSpPr>
        <p:spPr bwMode="auto">
          <a:xfrm>
            <a:off x="6398440" y="3200000"/>
            <a:ext cx="4678360" cy="6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950" b="0" i="0">
                <a:solidFill>
                  <a:srgbClr val="5A6B85"/>
                </a:solidFill>
                <a:latin typeface="Calibri"/>
              </a:rPr>
              <a:t>Traventure's target for a complete, personalized plan — destinations, weather, food and routes — in a single conversation.</a:t>
            </a:r>
            <a:endParaRPr/>
          </a:p>
        </p:txBody>
      </p:sp>
      <p:sp>
        <p:nvSpPr>
          <p:cNvPr id="1113031972" name="Oval 12"/>
          <p:cNvSpPr/>
          <p:nvPr/>
        </p:nvSpPr>
        <p:spPr bwMode="auto">
          <a:xfrm>
            <a:off x="640080" y="4235000"/>
            <a:ext cx="72000" cy="720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2349500" name="TextBox 13"/>
          <p:cNvSpPr txBox="1"/>
          <p:nvPr/>
        </p:nvSpPr>
        <p:spPr bwMode="auto">
          <a:xfrm>
            <a:off x="830759" y="4120999"/>
            <a:ext cx="105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5A6B85"/>
                </a:solidFill>
                <a:latin typeface="Calibri"/>
              </a:rPr>
              <a:t>Budget-aware suggestions tuned to travel-style tags like Budget Traveler and Food Lover</a:t>
            </a:r>
            <a:endParaRPr/>
          </a:p>
        </p:txBody>
      </p:sp>
      <p:sp>
        <p:nvSpPr>
          <p:cNvPr id="449469461" name="Oval 14"/>
          <p:cNvSpPr/>
          <p:nvPr/>
        </p:nvSpPr>
        <p:spPr bwMode="auto">
          <a:xfrm>
            <a:off x="640080" y="4575000"/>
            <a:ext cx="72000" cy="720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9990499" name="TextBox 15"/>
          <p:cNvSpPr txBox="1"/>
          <p:nvPr/>
        </p:nvSpPr>
        <p:spPr bwMode="auto">
          <a:xfrm>
            <a:off x="860079" y="4460999"/>
            <a:ext cx="105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5A6B85"/>
                </a:solidFill>
                <a:latin typeface="Calibri"/>
              </a:rPr>
              <a:t>Nearby places &amp; food ranked by real ratings (4.3★–4.9★) and distance, not guesswork</a:t>
            </a:r>
            <a:endParaRPr/>
          </a:p>
        </p:txBody>
      </p:sp>
      <p:sp>
        <p:nvSpPr>
          <p:cNvPr id="607644752" name="Oval 16"/>
          <p:cNvSpPr/>
          <p:nvPr/>
        </p:nvSpPr>
        <p:spPr bwMode="auto">
          <a:xfrm>
            <a:off x="640080" y="4915000"/>
            <a:ext cx="72000" cy="720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5425780" name="TextBox 17"/>
          <p:cNvSpPr txBox="1"/>
          <p:nvPr/>
        </p:nvSpPr>
        <p:spPr bwMode="auto">
          <a:xfrm>
            <a:off x="860079" y="4800999"/>
            <a:ext cx="105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5A6B85"/>
                </a:solidFill>
                <a:latin typeface="Calibri"/>
              </a:rPr>
              <a:t>One AI chat replaces manual research across six-plus browser tabs</a:t>
            </a:r>
            <a:endParaRPr/>
          </a:p>
        </p:txBody>
      </p:sp>
      <p:sp>
        <p:nvSpPr>
          <p:cNvPr id="302076714" name="Rounded Rectangle 18"/>
          <p:cNvSpPr/>
          <p:nvPr/>
        </p:nvSpPr>
        <p:spPr bwMode="auto">
          <a:xfrm>
            <a:off x="640080" y="562356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2026343" name="TextBox 19"/>
          <p:cNvSpPr txBox="1"/>
          <p:nvPr/>
        </p:nvSpPr>
        <p:spPr bwMode="auto">
          <a:xfrm>
            <a:off x="914400" y="5623560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350" b="0" i="1">
                <a:solidFill>
                  <a:srgbClr val="CADCFC"/>
                </a:solidFill>
                <a:latin typeface="Calibri"/>
              </a:rPr>
              <a:t>Less time spent searching means more time actually traveling.</a:t>
            </a:r>
            <a:endParaRPr/>
          </a:p>
        </p:txBody>
      </p:sp>
      <p:sp>
        <p:nvSpPr>
          <p:cNvPr id="591942424" name="TextBox 20"/>
          <p:cNvSpPr txBox="1"/>
          <p:nvPr/>
        </p:nvSpPr>
        <p:spPr bwMode="auto">
          <a:xfrm>
            <a:off x="457200" y="635022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900" b="1" i="0" spc="200">
                <a:solidFill>
                  <a:srgbClr val="A9B4C7"/>
                </a:solidFill>
                <a:latin typeface="Calibri"/>
              </a:rPr>
              <a:t>TRAVENTURE</a:t>
            </a:r>
            <a:endParaRPr/>
          </a:p>
        </p:txBody>
      </p:sp>
      <p:sp>
        <p:nvSpPr>
          <p:cNvPr id="1356112295" name="TextBox 21"/>
          <p:cNvSpPr txBox="1"/>
          <p:nvPr/>
        </p:nvSpPr>
        <p:spPr bwMode="auto">
          <a:xfrm>
            <a:off x="1143000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A9B4C7"/>
                </a:solidFill>
                <a:latin typeface="Calibri"/>
              </a:rPr>
              <a:t>8</a:t>
            </a:r>
            <a:endParaRPr/>
          </a:p>
        </p:txBody>
      </p:sp>
      <p:pic>
        <p:nvPicPr>
          <p:cNvPr id="83570512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0320" y="4815898"/>
            <a:ext cx="81551" cy="283961"/>
          </a:xfrm>
          <a:prstGeom prst="rect">
            <a:avLst/>
          </a:prstGeom>
        </p:spPr>
      </p:pic>
      <p:sp>
        <p:nvSpPr>
          <p:cNvPr id="2018480652" name="Oval 16"/>
          <p:cNvSpPr/>
          <p:nvPr/>
        </p:nvSpPr>
        <p:spPr bwMode="auto">
          <a:xfrm>
            <a:off x="645096" y="5245431"/>
            <a:ext cx="72000" cy="720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1969664" name=""/>
          <p:cNvSpPr txBox="1"/>
          <p:nvPr/>
        </p:nvSpPr>
        <p:spPr bwMode="auto">
          <a:xfrm rot="0" flipH="0" flipV="0">
            <a:off x="791669" y="5144091"/>
            <a:ext cx="50867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5A6B85"/>
                </a:solidFill>
              </a:rPr>
              <a:t>All-in-one place to plan your whole trip in minutes</a:t>
            </a:r>
            <a:endParaRPr sz="12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804373" name="Text 0"/>
          <p:cNvSpPr/>
          <p:nvPr/>
        </p:nvSpPr>
        <p:spPr bwMode="auto"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FF6B4A"/>
                </a:solidFill>
                <a:latin typeface="Calibri"/>
                <a:ea typeface="Calibri"/>
                <a:cs typeface="Calibri"/>
              </a:rPr>
              <a:t>WHERE WE ARE</a:t>
            </a:r>
            <a:endParaRPr lang="en-US" sz="1300"/>
          </a:p>
        </p:txBody>
      </p:sp>
      <p:sp>
        <p:nvSpPr>
          <p:cNvPr id="955814566" name="Text 1"/>
          <p:cNvSpPr/>
          <p:nvPr/>
        </p:nvSpPr>
        <p:spPr bwMode="auto"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Current progress — real, not padded</a:t>
            </a:r>
            <a:endParaRPr lang="en-US" sz="2800"/>
          </a:p>
        </p:txBody>
      </p:sp>
      <p:sp>
        <p:nvSpPr>
          <p:cNvPr id="1322729794" name="Text 2"/>
          <p:cNvSpPr/>
          <p:nvPr/>
        </p:nvSpPr>
        <p:spPr bwMode="auto">
          <a:xfrm>
            <a:off x="640080" y="14813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A6B85"/>
                </a:solidFill>
                <a:latin typeface="Calibri"/>
                <a:ea typeface="Calibri"/>
                <a:cs typeface="Calibri"/>
              </a:rPr>
              <a:t>Frontend and deployment are live today. Backend, AI integration, and live data are the next milestones.</a:t>
            </a:r>
            <a:endParaRPr lang="en-US" sz="1300"/>
          </a:p>
        </p:txBody>
      </p:sp>
      <p:sp>
        <p:nvSpPr>
          <p:cNvPr id="1636436567" name="Shape 3"/>
          <p:cNvSpPr/>
          <p:nvPr/>
        </p:nvSpPr>
        <p:spPr bwMode="auto">
          <a:xfrm>
            <a:off x="640080" y="2057400"/>
            <a:ext cx="5212080" cy="4343400"/>
          </a:xfrm>
          <a:prstGeom prst="roundRect">
            <a:avLst>
              <a:gd name="adj" fmla="val 2526"/>
            </a:avLst>
          </a:prstGeom>
          <a:solidFill>
            <a:srgbClr val="EAF6EF"/>
          </a:solidFill>
          <a:ln/>
        </p:spPr>
      </p:sp>
      <p:sp>
        <p:nvSpPr>
          <p:cNvPr id="708541756" name="Text 4"/>
          <p:cNvSpPr/>
          <p:nvPr/>
        </p:nvSpPr>
        <p:spPr bwMode="auto">
          <a:xfrm>
            <a:off x="914400" y="225856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E7A46"/>
                </a:solidFill>
                <a:latin typeface="Calibri"/>
                <a:ea typeface="Calibri"/>
                <a:cs typeface="Calibri"/>
              </a:rPr>
              <a:t>✓  COMPLETED</a:t>
            </a:r>
            <a:endParaRPr lang="en-US" sz="1500"/>
          </a:p>
        </p:txBody>
      </p:sp>
      <p:pic>
        <p:nvPicPr>
          <p:cNvPr id="1979547299" name="Image 0" descr="/home/claude/traventure_ppt/icon_check_1E7A46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400" y="2743200"/>
            <a:ext cx="237744" cy="237744"/>
          </a:xfrm>
          <a:prstGeom prst="rect">
            <a:avLst/>
          </a:prstGeom>
        </p:spPr>
      </p:pic>
      <p:sp>
        <p:nvSpPr>
          <p:cNvPr id="1562446360" name="Text 5"/>
          <p:cNvSpPr/>
          <p:nvPr/>
        </p:nvSpPr>
        <p:spPr bwMode="auto">
          <a:xfrm>
            <a:off x="1234440" y="267004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Project idea finalized</a:t>
            </a:r>
            <a:endParaRPr lang="en-US" sz="1250"/>
          </a:p>
        </p:txBody>
      </p:sp>
      <p:pic>
        <p:nvPicPr>
          <p:cNvPr id="236065054" name="Image 1" descr="/home/claude/traventure_ppt/icon_check_1E7A46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400" y="3246120"/>
            <a:ext cx="237744" cy="237744"/>
          </a:xfrm>
          <a:prstGeom prst="rect">
            <a:avLst/>
          </a:prstGeom>
        </p:spPr>
      </p:pic>
      <p:sp>
        <p:nvSpPr>
          <p:cNvPr id="765805747" name="Text 6"/>
          <p:cNvSpPr/>
          <p:nvPr/>
        </p:nvSpPr>
        <p:spPr bwMode="auto">
          <a:xfrm>
            <a:off x="1234440" y="317296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UI / UX designed</a:t>
            </a:r>
            <a:endParaRPr lang="en-US" sz="1250"/>
          </a:p>
        </p:txBody>
      </p:sp>
      <p:pic>
        <p:nvPicPr>
          <p:cNvPr id="1371505985" name="Image 2" descr="/home/claude/traventure_ppt/icon_check_1E7A46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400" y="3749040"/>
            <a:ext cx="237744" cy="237744"/>
          </a:xfrm>
          <a:prstGeom prst="rect">
            <a:avLst/>
          </a:prstGeom>
        </p:spPr>
      </p:pic>
      <p:sp>
        <p:nvSpPr>
          <p:cNvPr id="937817994" name="Text 7"/>
          <p:cNvSpPr/>
          <p:nvPr/>
        </p:nvSpPr>
        <p:spPr bwMode="auto">
          <a:xfrm>
            <a:off x="1234440" y="367588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React frontend developed</a:t>
            </a:r>
            <a:endParaRPr lang="en-US" sz="1250"/>
          </a:p>
        </p:txBody>
      </p:sp>
      <p:pic>
        <p:nvPicPr>
          <p:cNvPr id="713497058" name="Image 3" descr="/home/claude/traventure_ppt/icon_check_1E7A46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400" y="4251960"/>
            <a:ext cx="237744" cy="237744"/>
          </a:xfrm>
          <a:prstGeom prst="rect">
            <a:avLst/>
          </a:prstGeom>
        </p:spPr>
      </p:pic>
      <p:sp>
        <p:nvSpPr>
          <p:cNvPr id="320574756" name="Text 8"/>
          <p:cNvSpPr/>
          <p:nvPr/>
        </p:nvSpPr>
        <p:spPr bwMode="auto">
          <a:xfrm>
            <a:off x="1234440" y="417880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AI chatbot interface implemented</a:t>
            </a:r>
            <a:endParaRPr lang="en-US" sz="1250"/>
          </a:p>
        </p:txBody>
      </p:sp>
      <p:pic>
        <p:nvPicPr>
          <p:cNvPr id="1797959088" name="Image 4" descr="/home/claude/traventure_ppt/icon_check_1E7A46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400" y="4754880"/>
            <a:ext cx="237744" cy="237744"/>
          </a:xfrm>
          <a:prstGeom prst="rect">
            <a:avLst/>
          </a:prstGeom>
        </p:spPr>
      </p:pic>
      <p:sp>
        <p:nvSpPr>
          <p:cNvPr id="1573900273" name="Text 9"/>
          <p:cNvSpPr/>
          <p:nvPr/>
        </p:nvSpPr>
        <p:spPr bwMode="auto">
          <a:xfrm>
            <a:off x="1234440" y="468172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Responsive design completed</a:t>
            </a:r>
            <a:endParaRPr lang="en-US" sz="1250"/>
          </a:p>
        </p:txBody>
      </p:sp>
      <p:pic>
        <p:nvPicPr>
          <p:cNvPr id="1740974738" name="Image 5" descr="/home/claude/traventure_ppt/icon_check_1E7A46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400" y="5257800"/>
            <a:ext cx="237744" cy="237744"/>
          </a:xfrm>
          <a:prstGeom prst="rect">
            <a:avLst/>
          </a:prstGeom>
        </p:spPr>
      </p:pic>
      <p:sp>
        <p:nvSpPr>
          <p:cNvPr id="834754819" name="Text 10"/>
          <p:cNvSpPr/>
          <p:nvPr/>
        </p:nvSpPr>
        <p:spPr bwMode="auto">
          <a:xfrm>
            <a:off x="1234440" y="518464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Deployed successfully on Render</a:t>
            </a:r>
            <a:endParaRPr lang="en-US" sz="1250"/>
          </a:p>
        </p:txBody>
      </p:sp>
      <p:pic>
        <p:nvPicPr>
          <p:cNvPr id="496120158" name="Image 6" descr="/home/claude/traventure_ppt/icon_check_1E7A46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400" y="5760720"/>
            <a:ext cx="237744" cy="237744"/>
          </a:xfrm>
          <a:prstGeom prst="rect">
            <a:avLst/>
          </a:prstGeom>
        </p:spPr>
      </p:pic>
      <p:sp>
        <p:nvSpPr>
          <p:cNvPr id="159117906" name="Text 11"/>
          <p:cNvSpPr/>
          <p:nvPr/>
        </p:nvSpPr>
        <p:spPr bwMode="auto">
          <a:xfrm>
            <a:off x="1234440" y="568756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GitHub repository created &amp; maintained</a:t>
            </a:r>
            <a:endParaRPr lang="en-US" sz="1250"/>
          </a:p>
        </p:txBody>
      </p:sp>
      <p:sp>
        <p:nvSpPr>
          <p:cNvPr id="41235138" name="Shape 12"/>
          <p:cNvSpPr/>
          <p:nvPr/>
        </p:nvSpPr>
        <p:spPr bwMode="auto">
          <a:xfrm>
            <a:off x="6126480" y="2057400"/>
            <a:ext cx="5212080" cy="4343400"/>
          </a:xfrm>
          <a:prstGeom prst="roundRect">
            <a:avLst>
              <a:gd name="adj" fmla="val 2526"/>
            </a:avLst>
          </a:prstGeom>
          <a:solidFill>
            <a:srgbClr val="FCEEE9"/>
          </a:solidFill>
          <a:ln/>
        </p:spPr>
      </p:sp>
      <p:sp>
        <p:nvSpPr>
          <p:cNvPr id="478690434" name="Text 13"/>
          <p:cNvSpPr/>
          <p:nvPr/>
        </p:nvSpPr>
        <p:spPr bwMode="auto">
          <a:xfrm>
            <a:off x="6400800" y="225856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C1502E"/>
                </a:solidFill>
                <a:latin typeface="Calibri"/>
                <a:ea typeface="Calibri"/>
                <a:cs typeface="Calibri"/>
              </a:rPr>
              <a:t>→  IN PROGRESS / PLANNED</a:t>
            </a:r>
            <a:endParaRPr lang="en-US" sz="1500"/>
          </a:p>
        </p:txBody>
      </p:sp>
      <p:sp>
        <p:nvSpPr>
          <p:cNvPr id="1117872103" name="Shape 14"/>
          <p:cNvSpPr/>
          <p:nvPr/>
        </p:nvSpPr>
        <p:spPr bwMode="auto">
          <a:xfrm>
            <a:off x="6400800" y="2816352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876358210" name="Text 15"/>
          <p:cNvSpPr/>
          <p:nvPr/>
        </p:nvSpPr>
        <p:spPr bwMode="auto">
          <a:xfrm>
            <a:off x="6629400" y="268833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Backend development (Node/Express)</a:t>
            </a:r>
            <a:endParaRPr lang="en-US" sz="1250"/>
          </a:p>
        </p:txBody>
      </p:sp>
      <p:sp>
        <p:nvSpPr>
          <p:cNvPr id="1914857988" name="Shape 16"/>
          <p:cNvSpPr/>
          <p:nvPr/>
        </p:nvSpPr>
        <p:spPr bwMode="auto">
          <a:xfrm>
            <a:off x="6400800" y="3255264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02386694" name="Text 17"/>
          <p:cNvSpPr/>
          <p:nvPr/>
        </p:nvSpPr>
        <p:spPr bwMode="auto">
          <a:xfrm>
            <a:off x="6629400" y="31272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AI integration via backend API</a:t>
            </a:r>
            <a:endParaRPr lang="en-US" sz="1250"/>
          </a:p>
        </p:txBody>
      </p:sp>
      <p:sp>
        <p:nvSpPr>
          <p:cNvPr id="2031384821" name="Shape 18"/>
          <p:cNvSpPr/>
          <p:nvPr/>
        </p:nvSpPr>
        <p:spPr bwMode="auto">
          <a:xfrm>
            <a:off x="6400800" y="3694176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774217586" name="Text 19"/>
          <p:cNvSpPr/>
          <p:nvPr/>
        </p:nvSpPr>
        <p:spPr bwMode="auto">
          <a:xfrm>
            <a:off x="6629400" y="3566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Database connectivity (MongoDB)</a:t>
            </a:r>
            <a:endParaRPr lang="en-US" sz="1250"/>
          </a:p>
        </p:txBody>
      </p:sp>
      <p:sp>
        <p:nvSpPr>
          <p:cNvPr id="1843554672" name="Shape 20"/>
          <p:cNvSpPr/>
          <p:nvPr/>
        </p:nvSpPr>
        <p:spPr bwMode="auto">
          <a:xfrm>
            <a:off x="6400800" y="4133088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17618379" name="Text 21"/>
          <p:cNvSpPr/>
          <p:nvPr/>
        </p:nvSpPr>
        <p:spPr bwMode="auto">
          <a:xfrm>
            <a:off x="6629400" y="40050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User authentication</a:t>
            </a:r>
            <a:endParaRPr lang="en-US" sz="1250"/>
          </a:p>
        </p:txBody>
      </p:sp>
      <p:sp>
        <p:nvSpPr>
          <p:cNvPr id="74057046" name="Shape 22"/>
          <p:cNvSpPr/>
          <p:nvPr/>
        </p:nvSpPr>
        <p:spPr bwMode="auto">
          <a:xfrm>
            <a:off x="6400800" y="4572000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756935147" name="Text 23"/>
          <p:cNvSpPr/>
          <p:nvPr/>
        </p:nvSpPr>
        <p:spPr bwMode="auto">
          <a:xfrm>
            <a:off x="6629400" y="444398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Live weather &amp; places API integration</a:t>
            </a:r>
            <a:endParaRPr lang="en-US" sz="1250"/>
          </a:p>
        </p:txBody>
      </p:sp>
      <p:sp>
        <p:nvSpPr>
          <p:cNvPr id="1777072437" name="Shape 24"/>
          <p:cNvSpPr/>
          <p:nvPr/>
        </p:nvSpPr>
        <p:spPr bwMode="auto">
          <a:xfrm>
            <a:off x="6400800" y="5010912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716481902" name="Text 25"/>
          <p:cNvSpPr/>
          <p:nvPr/>
        </p:nvSpPr>
        <p:spPr bwMode="auto">
          <a:xfrm>
            <a:off x="6629400" y="48828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Dynamic travel recommendations</a:t>
            </a:r>
            <a:endParaRPr lang="en-US" sz="1250"/>
          </a:p>
        </p:txBody>
      </p:sp>
      <p:sp>
        <p:nvSpPr>
          <p:cNvPr id="1399243935" name="Shape 26"/>
          <p:cNvSpPr/>
          <p:nvPr/>
        </p:nvSpPr>
        <p:spPr bwMode="auto">
          <a:xfrm>
            <a:off x="6400800" y="5449823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24480442" name="Text 27"/>
          <p:cNvSpPr/>
          <p:nvPr/>
        </p:nvSpPr>
        <p:spPr bwMode="auto">
          <a:xfrm>
            <a:off x="6629400" y="53218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Route optimization</a:t>
            </a:r>
            <a:endParaRPr lang="en-US" sz="1250"/>
          </a:p>
        </p:txBody>
      </p:sp>
      <p:sp>
        <p:nvSpPr>
          <p:cNvPr id="1657992326" name="Shape 28"/>
          <p:cNvSpPr/>
          <p:nvPr/>
        </p:nvSpPr>
        <p:spPr bwMode="auto">
          <a:xfrm>
            <a:off x="6400800" y="5888736"/>
            <a:ext cx="91440" cy="914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5156634" name="Text 29"/>
          <p:cNvSpPr/>
          <p:nvPr/>
        </p:nvSpPr>
        <p:spPr bwMode="auto">
          <a:xfrm>
            <a:off x="6629400" y="5760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Saved trips &amp; user profiles</a:t>
            </a:r>
            <a:endParaRPr lang="en-US" sz="1250"/>
          </a:p>
        </p:txBody>
      </p:sp>
      <p:sp>
        <p:nvSpPr>
          <p:cNvPr id="801808992" name="Text 30"/>
          <p:cNvSpPr/>
          <p:nvPr/>
        </p:nvSpPr>
        <p:spPr bwMode="auto">
          <a:xfrm>
            <a:off x="457200" y="640975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 spc="200">
                <a:solidFill>
                  <a:srgbClr val="A9B4C7"/>
                </a:solidFill>
                <a:latin typeface="Calibri"/>
                <a:ea typeface="Calibri"/>
                <a:cs typeface="Calibri"/>
              </a:rPr>
              <a:t>TRAVENTURE</a:t>
            </a:r>
            <a:endParaRPr lang="en-US" sz="900"/>
          </a:p>
        </p:txBody>
      </p:sp>
      <p:sp>
        <p:nvSpPr>
          <p:cNvPr id="1541128581" name="Text 31"/>
          <p:cNvSpPr/>
          <p:nvPr/>
        </p:nvSpPr>
        <p:spPr bwMode="auto"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A9B4C7"/>
                </a:solidFill>
                <a:latin typeface="Calibri"/>
                <a:ea typeface="Calibri"/>
                <a:cs typeface="Calibri"/>
              </a:rPr>
              <a:t>9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21295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52171" name="Shape 0"/>
          <p:cNvSpPr/>
          <p:nvPr/>
        </p:nvSpPr>
        <p:spPr bwMode="auto">
          <a:xfrm>
            <a:off x="-1067104" y="-1204264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1569608938" name="Shape 1"/>
          <p:cNvSpPr/>
          <p:nvPr/>
        </p:nvSpPr>
        <p:spPr bwMode="auto">
          <a:xfrm>
            <a:off x="9624059" y="3858386"/>
            <a:ext cx="4206240" cy="4206240"/>
          </a:xfrm>
          <a:prstGeom prst="ellipse">
            <a:avLst/>
          </a:prstGeom>
          <a:solidFill>
            <a:srgbClr val="FF6B4A">
              <a:alpha val="28000"/>
            </a:srgbClr>
          </a:solidFill>
          <a:ln/>
        </p:spPr>
      </p:sp>
      <p:sp>
        <p:nvSpPr>
          <p:cNvPr id="636827070" name="Text 2"/>
          <p:cNvSpPr/>
          <p:nvPr/>
        </p:nvSpPr>
        <p:spPr bwMode="auto"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FF6B4A"/>
                </a:solidFill>
                <a:latin typeface="Calibri"/>
                <a:ea typeface="Calibri"/>
                <a:cs typeface="Calibri"/>
              </a:rPr>
              <a:t>PROOF OF DEVELOPMENT</a:t>
            </a:r>
            <a:endParaRPr lang="en-US" sz="1300"/>
          </a:p>
        </p:txBody>
      </p:sp>
      <p:sp>
        <p:nvSpPr>
          <p:cNvPr id="1512780374" name="Text 3"/>
          <p:cNvSpPr/>
          <p:nvPr/>
        </p:nvSpPr>
        <p:spPr bwMode="auto">
          <a:xfrm>
            <a:off x="640080" y="841248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It's live — see it for yourself</a:t>
            </a:r>
            <a:endParaRPr lang="en-US" sz="3000"/>
          </a:p>
        </p:txBody>
      </p:sp>
      <p:sp>
        <p:nvSpPr>
          <p:cNvPr id="661798592" name="Shape 4"/>
          <p:cNvSpPr/>
          <p:nvPr/>
        </p:nvSpPr>
        <p:spPr bwMode="auto">
          <a:xfrm>
            <a:off x="640080" y="1874520"/>
            <a:ext cx="6035039" cy="3794760"/>
          </a:xfrm>
          <a:prstGeom prst="roundRect">
            <a:avLst>
              <a:gd name="adj" fmla="val 1928"/>
            </a:avLst>
          </a:prstGeom>
          <a:solidFill>
            <a:srgbClr val="0F1740"/>
          </a:solidFill>
          <a:ln w="12700">
            <a:solidFill>
              <a:srgbClr val="3E4A7A"/>
            </a:solidFill>
            <a:prstDash val="solid"/>
          </a:ln>
        </p:spPr>
      </p:sp>
      <p:sp>
        <p:nvSpPr>
          <p:cNvPr id="37634339" name="Shape 5"/>
          <p:cNvSpPr/>
          <p:nvPr/>
        </p:nvSpPr>
        <p:spPr bwMode="auto">
          <a:xfrm>
            <a:off x="640080" y="1874520"/>
            <a:ext cx="6035039" cy="384048"/>
          </a:xfrm>
          <a:prstGeom prst="roundRect">
            <a:avLst>
              <a:gd name="adj" fmla="val 19048"/>
            </a:avLst>
          </a:prstGeom>
          <a:solidFill>
            <a:srgbClr val="182352"/>
          </a:solidFill>
          <a:ln/>
        </p:spPr>
      </p:sp>
      <p:sp>
        <p:nvSpPr>
          <p:cNvPr id="1586994043" name="Shape 6"/>
          <p:cNvSpPr/>
          <p:nvPr/>
        </p:nvSpPr>
        <p:spPr bwMode="auto">
          <a:xfrm>
            <a:off x="822960" y="2002536"/>
            <a:ext cx="128016" cy="12801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860318003" name="Shape 7"/>
          <p:cNvSpPr/>
          <p:nvPr/>
        </p:nvSpPr>
        <p:spPr bwMode="auto">
          <a:xfrm>
            <a:off x="1078992" y="2002536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25300940" name="Shape 8"/>
          <p:cNvSpPr/>
          <p:nvPr/>
        </p:nvSpPr>
        <p:spPr bwMode="auto">
          <a:xfrm>
            <a:off x="1335024" y="2002536"/>
            <a:ext cx="128016" cy="128016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480741120" name="Shape 9"/>
          <p:cNvSpPr/>
          <p:nvPr/>
        </p:nvSpPr>
        <p:spPr bwMode="auto">
          <a:xfrm>
            <a:off x="1645920" y="1947671"/>
            <a:ext cx="4754880" cy="237744"/>
          </a:xfrm>
          <a:prstGeom prst="roundRect">
            <a:avLst>
              <a:gd name="adj" fmla="val 50000"/>
            </a:avLst>
          </a:prstGeom>
          <a:solidFill>
            <a:srgbClr val="0B1230"/>
          </a:solidFill>
          <a:ln/>
        </p:spPr>
      </p:sp>
      <p:sp>
        <p:nvSpPr>
          <p:cNvPr id="1845207065" name="Text 10"/>
          <p:cNvSpPr/>
          <p:nvPr/>
        </p:nvSpPr>
        <p:spPr bwMode="auto">
          <a:xfrm>
            <a:off x="1645920" y="1947671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9FB0D8"/>
                </a:solidFill>
                <a:latin typeface="Calibri"/>
                <a:ea typeface="Calibri"/>
                <a:cs typeface="Calibri"/>
              </a:rPr>
              <a:t>traventure-4m5a.onrender.com</a:t>
            </a:r>
            <a:endParaRPr lang="en-US" sz="950"/>
          </a:p>
        </p:txBody>
      </p:sp>
      <p:sp>
        <p:nvSpPr>
          <p:cNvPr id="2142450367" name="Shape 11"/>
          <p:cNvSpPr/>
          <p:nvPr/>
        </p:nvSpPr>
        <p:spPr bwMode="auto">
          <a:xfrm>
            <a:off x="3246120" y="31089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32391104" name="Image 0" descr="/home/claude/traventure_ppt/icon_chat_FFFFFF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53105" y="3215945"/>
            <a:ext cx="608990" cy="608990"/>
          </a:xfrm>
          <a:prstGeom prst="rect">
            <a:avLst/>
          </a:prstGeom>
        </p:spPr>
      </p:pic>
      <p:sp>
        <p:nvSpPr>
          <p:cNvPr id="1944448445" name="Text 12"/>
          <p:cNvSpPr/>
          <p:nvPr/>
        </p:nvSpPr>
        <p:spPr bwMode="auto">
          <a:xfrm>
            <a:off x="1005840" y="4114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Live AI Travel Assistant UI</a:t>
            </a:r>
            <a:endParaRPr lang="en-US" sz="1500"/>
          </a:p>
        </p:txBody>
      </p:sp>
      <p:sp>
        <p:nvSpPr>
          <p:cNvPr id="428546685" name="Text 13"/>
          <p:cNvSpPr/>
          <p:nvPr/>
        </p:nvSpPr>
        <p:spPr bwMode="auto">
          <a:xfrm>
            <a:off x="1280160" y="4526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B9C7E0"/>
                </a:solidFill>
                <a:latin typeface="Calibri"/>
                <a:ea typeface="Calibri"/>
                <a:cs typeface="Calibri"/>
              </a:rPr>
              <a:t>Deployed, responsive, and reachable at the link below — not a mockup.</a:t>
            </a:r>
            <a:endParaRPr lang="en-US" sz="1100"/>
          </a:p>
        </p:txBody>
      </p:sp>
      <p:sp>
        <p:nvSpPr>
          <p:cNvPr id="1363514102" name="Shape 14"/>
          <p:cNvSpPr/>
          <p:nvPr/>
        </p:nvSpPr>
        <p:spPr bwMode="auto">
          <a:xfrm>
            <a:off x="1188720" y="5029200"/>
            <a:ext cx="4937760" cy="45720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</p:sp>
      <p:sp>
        <p:nvSpPr>
          <p:cNvPr id="2040902338" name="Text 15"/>
          <p:cNvSpPr/>
          <p:nvPr/>
        </p:nvSpPr>
        <p:spPr bwMode="auto">
          <a:xfrm>
            <a:off x="1188720" y="5029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Visit → traventure-4m5a.onrender.com</a:t>
            </a:r>
            <a:endParaRPr lang="en-US" sz="1250"/>
          </a:p>
        </p:txBody>
      </p:sp>
      <p:sp>
        <p:nvSpPr>
          <p:cNvPr id="412345800" name="Shape 16"/>
          <p:cNvSpPr/>
          <p:nvPr/>
        </p:nvSpPr>
        <p:spPr bwMode="auto">
          <a:xfrm>
            <a:off x="6995160" y="1874520"/>
            <a:ext cx="4526280" cy="1600200"/>
          </a:xfrm>
          <a:prstGeom prst="roundRect">
            <a:avLst>
              <a:gd name="adj" fmla="val 5714"/>
            </a:avLst>
          </a:prstGeom>
          <a:solidFill>
            <a:srgbClr val="0F1740"/>
          </a:solidFill>
          <a:ln w="12700">
            <a:solidFill>
              <a:srgbClr val="3E4A7A"/>
            </a:solidFill>
            <a:prstDash val="solid"/>
          </a:ln>
        </p:spPr>
      </p:sp>
      <p:sp>
        <p:nvSpPr>
          <p:cNvPr id="904262264" name="Shape 17"/>
          <p:cNvSpPr/>
          <p:nvPr/>
        </p:nvSpPr>
        <p:spPr bwMode="auto">
          <a:xfrm>
            <a:off x="7251192" y="213055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81749488" name="Image 1" descr="/home/claude/traventure_ppt/icon_github_21295C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322515" y="2201875"/>
            <a:ext cx="405994" cy="405994"/>
          </a:xfrm>
          <a:prstGeom prst="rect">
            <a:avLst/>
          </a:prstGeom>
        </p:spPr>
      </p:pic>
      <p:sp>
        <p:nvSpPr>
          <p:cNvPr id="1591427163" name="Text 18"/>
          <p:cNvSpPr/>
          <p:nvPr/>
        </p:nvSpPr>
        <p:spPr bwMode="auto">
          <a:xfrm>
            <a:off x="7955280" y="2130552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GitHub Repository</a:t>
            </a:r>
            <a:endParaRPr lang="en-US" sz="1400"/>
          </a:p>
        </p:txBody>
      </p:sp>
      <p:sp>
        <p:nvSpPr>
          <p:cNvPr id="956862970" name="Text 19"/>
          <p:cNvSpPr/>
          <p:nvPr/>
        </p:nvSpPr>
        <p:spPr bwMode="auto">
          <a:xfrm>
            <a:off x="7955280" y="24414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Rosalia-06/Traventure</a:t>
            </a:r>
            <a:endParaRPr lang="en-US" sz="1100"/>
          </a:p>
        </p:txBody>
      </p:sp>
      <p:sp>
        <p:nvSpPr>
          <p:cNvPr id="1345003357" name="Text 20"/>
          <p:cNvSpPr/>
          <p:nvPr/>
        </p:nvSpPr>
        <p:spPr bwMode="auto">
          <a:xfrm>
            <a:off x="7269480" y="286207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050">
                <a:solidFill>
                  <a:srgbClr val="9FB0D8"/>
                </a:solidFill>
                <a:latin typeface="Calibri"/>
                <a:ea typeface="Calibri"/>
                <a:cs typeface="Calibri"/>
              </a:rPr>
              <a:t>React + Vite codebase, public and actively maintained — 98.6% JavaScript.</a:t>
            </a:r>
            <a:endParaRPr lang="en-US" sz="1050"/>
          </a:p>
        </p:txBody>
      </p:sp>
      <p:sp>
        <p:nvSpPr>
          <p:cNvPr id="138621723" name="Shape 21"/>
          <p:cNvSpPr/>
          <p:nvPr/>
        </p:nvSpPr>
        <p:spPr bwMode="auto">
          <a:xfrm>
            <a:off x="6995160" y="3657600"/>
            <a:ext cx="4526280" cy="2011680"/>
          </a:xfrm>
          <a:prstGeom prst="roundRect">
            <a:avLst>
              <a:gd name="adj" fmla="val 4545"/>
            </a:avLst>
          </a:prstGeom>
          <a:solidFill>
            <a:srgbClr val="0F1740"/>
          </a:solidFill>
          <a:ln w="12700">
            <a:solidFill>
              <a:srgbClr val="3E4A7A"/>
            </a:solidFill>
            <a:prstDash val="solid"/>
          </a:ln>
        </p:spPr>
      </p:sp>
      <p:sp>
        <p:nvSpPr>
          <p:cNvPr id="466413489" name="Text 22"/>
          <p:cNvSpPr/>
          <p:nvPr/>
        </p:nvSpPr>
        <p:spPr bwMode="auto">
          <a:xfrm>
            <a:off x="7269480" y="38404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150">
                <a:solidFill>
                  <a:srgbClr val="FF6B4A"/>
                </a:solidFill>
                <a:latin typeface="Calibri"/>
                <a:ea typeface="Calibri"/>
                <a:cs typeface="Calibri"/>
              </a:rPr>
              <a:t>WHY IT MATTERS</a:t>
            </a:r>
            <a:endParaRPr lang="en-US" sz="1100"/>
          </a:p>
        </p:txBody>
      </p:sp>
      <p:sp>
        <p:nvSpPr>
          <p:cNvPr id="1622686392" name="Text 23"/>
          <p:cNvSpPr/>
          <p:nvPr/>
        </p:nvSpPr>
        <p:spPr bwMode="auto">
          <a:xfrm>
            <a:off x="7269480" y="4160519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  <a:defRPr/>
            </a:pPr>
            <a:r>
              <a:rPr lang="en-US" sz="1250">
                <a:solidFill>
                  <a:srgbClr val="E4EAF6"/>
                </a:solidFill>
                <a:latin typeface="Calibri"/>
                <a:ea typeface="Calibri"/>
                <a:cs typeface="Calibri"/>
              </a:rPr>
              <a:t>Travel planning should be simple, not stressful. Traventure's AI-first, unified approach — one assistant instead of six tabs — is what makes it worth building further.</a:t>
            </a:r>
            <a:endParaRPr lang="en-US" sz="1250"/>
          </a:p>
        </p:txBody>
      </p:sp>
      <p:sp>
        <p:nvSpPr>
          <p:cNvPr id="1623863344" name="Text 24"/>
          <p:cNvSpPr/>
          <p:nvPr/>
        </p:nvSpPr>
        <p:spPr bwMode="auto">
          <a:xfrm>
            <a:off x="5373874" y="5993892"/>
            <a:ext cx="4526280" cy="41148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Thank you.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377373489" name="Text 25"/>
          <p:cNvSpPr/>
          <p:nvPr/>
        </p:nvSpPr>
        <p:spPr bwMode="auto">
          <a:xfrm>
            <a:off x="457200" y="640975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 spc="200">
                <a:solidFill>
                  <a:srgbClr val="8FA3C9"/>
                </a:solidFill>
                <a:latin typeface="Calibri"/>
                <a:ea typeface="Calibri"/>
                <a:cs typeface="Calibri"/>
              </a:rPr>
              <a:t>TRAVENTURE</a:t>
            </a:r>
            <a:endParaRPr lang="en-US" sz="900"/>
          </a:p>
        </p:txBody>
      </p:sp>
      <p:sp>
        <p:nvSpPr>
          <p:cNvPr id="1163310131" name="Text 26"/>
          <p:cNvSpPr/>
          <p:nvPr/>
        </p:nvSpPr>
        <p:spPr bwMode="auto"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8FA3C9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3</cp:revision>
  <dcterms:created xsi:type="dcterms:W3CDTF">2026-07-14T14:42:13Z</dcterms:created>
  <dcterms:modified xsi:type="dcterms:W3CDTF">2026-07-15T09:43:52Z</dcterms:modified>
</cp:coreProperties>
</file>